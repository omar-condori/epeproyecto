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9768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/home/claude/pdf_images/page00_img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57200"/>
            <a:ext cx="1417320" cy="3410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40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CE02 · INGENIERÍA DE SOFTWARE  ·  ENTREGABLE 2  ·  2026-I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" y="2606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DATOS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21792" y="3337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SISTEMA FINANZAS-MED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DDL/DML, triggers, procedimientos, optimización y seguridad — PostgreSQL 16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4892040"/>
            <a:ext cx="859536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074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 (201810211)  ·  Flores Llanque Mery Elizabeth (202211953)  ·  Huahuaccapa Ccama Jaqueline (202210712)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5715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 · Facultad de Ingeniería y Arquitectura · Escuela Profesional de Ingeniería de Sistemas · Juliaca, Perú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 de datos activa, no un almacén pasivo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FINANZAS-MED la base de datos ejecuta lógica de negocio crítica directamente en el motor PostgreSQL, garantizando consistencia incluso ante fallos del backend Spring Boot.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 estricta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KEY, CHECK y NOT NULL evitan estados inconsistentes: un movimiento de caja sin método de pago, o una venta sin sucursal.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2331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8456" y="2560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48456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8456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concurrencia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48456" y="4069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filas (SELECT ... FOR UPDATE) impide que cajeros simultáneos generen descuadres contables o duplicidad de stock.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2331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9672" y="25603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9672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crítica en triggers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9672" y="4069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saldos de caja y el stock de inventario se actualizan mediante funciones PL/pgSQL — independiente de caídas del servidor de aplicaciones.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62288" y="2331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560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9390888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90888" y="3246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auditoría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90888" y="40690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B-Tree para búsquedas analíticas frecuentes y un flujo inmutable de auditoría (SystemAuditLog) para cada escritura.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1.1 · SEGURIDAD, ACCESOS Y MENÚ DINÁMICO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 usuario y asignación multi-sucursal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03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184" y="1737360"/>
            <a:ext cx="2138152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Relación de Roles de Usuario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user_roles vincula N-a-N los usuarios (datos_personales) con sus perfiles de permisos (roles).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04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49240" cy="34692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Multi-sucursal y Segregación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user_branch_roles mapea privilegios por sede geográfica, con restricciones de segregación de funciones.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1.1 · SEGURIDAD, ACCESOS Y MENÚ DINÁMICO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dinámico y permisos granulares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04_img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795" y="1737360"/>
            <a:ext cx="504093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Estructura de Menú Dinámico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menu y modulo se vinculan con los roles para cargar de forma adaptativa las rutas de la SPA Angular.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05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196" y="1737360"/>
            <a:ext cx="3492687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Permisos Granulares y Excepciones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se vincula con user_permissions para conceder vigencia y expiración programada por usuario.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1.2 · CATÁLOGO, PRODUCTOS Y KARDEX LOGÍSTICO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general: maestro unificado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06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49240" cy="40932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Catálogo General — Sección Superior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catalogo actúa como base heredada para productos y servicios asistenciales.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06_img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49240" cy="3962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Catálogo General — Sección Inferior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con clasificaciones y códigos tributarios de SUNAT (DIGEMID / SUSALUD).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1.2 · CATÁLOGO, PRODUCTOS Y KARDEX LOGÍSTICO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físico y trazabilidad de stock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07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49240" cy="41401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Ficha de Productos e Inventario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1-a-1 con catálogo: stock mínimo/máximo, fecha de vencimiento y laboratorios.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08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49240" cy="41124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Control de Kardex Permanente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entrada y salida física con sucursal, cantidad, costo y usuario responsable.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1.2 · CATÁLOGO, PRODUCTOS Y KARDEX LOGÍSTICO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Niveles y tarifarios médicos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66344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09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147" y="1737360"/>
            <a:ext cx="4595707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Niveles y Tarifas Médicas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29400" y="1600200"/>
            <a:ext cx="4983480" cy="4663440"/>
          </a:xfrm>
          <a:prstGeom prst="roundRect">
            <a:avLst>
              <a:gd name="adj" fmla="val 156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1828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03720" y="247802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23500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niveles asocia el catálogo de servicios con los médicos tratantes.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330098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3172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asignar honorarios profesionales según el nivel de especialidad de cada médico.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412394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0" y="39959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cent_cost_limite habilita el control de centros de costo por sucursal.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03720" y="49469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0" y="48188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enlaza jerárquicamente (id_nivel_padre) para tarifarios escalonados.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1.3 · TESORERÍA, CAJAS CHICAS Y CAJA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chica: cabecera y movimientos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10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49240" cy="3993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Caja Chica — Cabecera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diario de saldos contables y estado de apertura/cierre de la caja de ventanilla.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11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879" y="1737360"/>
            <a:ext cx="3325323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Movimientos de Caja Chica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analítico de ingresos y egresos, vinculado obligatoriamente a un método de pago.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1.3 · TESORERÍA, CAJAS CHICAS Y CAJA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general: la bóveda de sucursal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12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622" y="1737360"/>
            <a:ext cx="4137277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Caja General (Bóveda)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Bóveda centralizadora que recibe los fondos acumulados al momento del arqueo de cajas chicas.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13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442" y="1737360"/>
            <a:ext cx="4168196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Movimientos de Caja General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entradas por cierre de caja y egresos mayores hacia cuentas bancarias.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1.3 · TESORERÍA, CAJAS CHICAS Y CAJA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Saldos consolidados y métodos de pago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14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7" y="1737360"/>
            <a:ext cx="484370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Saldos por Método de Pago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caja_general_saldo acumula los fondos discriminados por tipo de cobro (Efectivo, Tarjetas, Yape).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15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37360"/>
            <a:ext cx="4892040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Catálogo de Métodos de Pago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centralizador que estandariza las modalidades de pago en todas las transacciones.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1.4 · LOGÍSTICA Y COMPRAS A PROVEEDORES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compras y detalle físico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16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454" y="1737360"/>
            <a:ext cx="4059612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Facturas de Compras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vincula la factura tributaria física con el proveedor y los impuestos aplicados.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17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585" y="1737360"/>
            <a:ext cx="3937909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Detalle Físico de Compras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detalle_compra asocia productos del catálogo con unidades, costos y cantidades ingresadas.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1.4 · LOGÍSTICA Y COMPRAS A PROVEEDORES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Emisión de órdenes de compra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66344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18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002" y="1737360"/>
            <a:ext cx="4245997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Emisión de Órdenes de Compra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29400" y="1600200"/>
            <a:ext cx="4983480" cy="4663440"/>
          </a:xfrm>
          <a:prstGeom prst="roundRect">
            <a:avLst>
              <a:gd name="adj" fmla="val 156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1828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aprobación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03720" y="247802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23500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requerimiento formal se registra en ordenes_compra con estado 'PENDIENTE'.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330098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3172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firma digital de aprobación de un supervisor logístico antes del envío al proveedor.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412394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0" y="39959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orden_compra_detalles guarda ítems, cantidades y precios cotizados con su IGV.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03720" y="49469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0" y="48188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 adelantos parciales mediante los campos de porcentaje y saldo pendiente.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1.5 · CUENTAS CORRIENTES, CONVENIOS Y PAQUETES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corrientes de convenio y cronograma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19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503" y="1737360"/>
            <a:ext cx="2561514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Cuentas Corrientes de Convenio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cred_ctacte registra límites y consumo acumulado de pólizas de seguros por paciente.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20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532" y="1737360"/>
            <a:ext cx="2856016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Cronograma de Pagos y Amortización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las fechas de vencimiento de obligaciones financieras generadas al crédito.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1.5 · CUENTAS CORRIENTES, CONVENIOS Y PAQUETES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 proveedor y empresas conveniadas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21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807" y="1737360"/>
            <a:ext cx="4564907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Cuenta Proveedor Acumulada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la deuda total por pagar a cada droguería o laboratorio proveedor.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22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078" y="1737360"/>
            <a:ext cx="3836924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Datos de Empresas Conveniadas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 personas jurídicas (datos_empresa) vinculadas a pacientes y sus planes de cobertura.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1.5 · CUENTAS CORRIENTES, CONVENIOS Y PAQUETES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Paquetes promocionales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66344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23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760720" cy="4022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Oferta de Paquetes Promocionales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29400" y="1600200"/>
            <a:ext cx="4983480" cy="4663440"/>
          </a:xfrm>
          <a:prstGeom prst="roundRect">
            <a:avLst>
              <a:gd name="adj" fmla="val 156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03720" y="1828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03720" y="247802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0" y="235000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paquetes define servicios asistenciales agrupados con tarifa cerrada.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03720" y="330098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0" y="317296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paquete_detalles enumera cada servicio incluido y su precio dentro del paquete.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412394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0" y="399592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temporal: fecha_inicio y fecha_fin delimitan el uso del paquete (RN-06).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03720" y="49469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0" y="481888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asocia a tipos_atencion para diferenciar consulta, examen o procedimiento.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1.6 · FACTURACIÓN Y CONSOLIDACIÓN DE SUCURSAL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 de sucursales y detalle de venta asistencial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5" name="Image 0" descr="/home/claude/pdf_images2/page24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98" y="1737360"/>
            <a:ext cx="3593525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Estructura de Sucursales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geográfico multi-sucursal que vincula la procedencia de ventas, inventarios y cajas.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349240" cy="4846320"/>
          </a:xfrm>
          <a:prstGeom prst="roundRect">
            <a:avLst>
              <a:gd name="adj" fmla="val 13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pic>
        <p:nvPicPr>
          <p:cNvPr id="9" name="Image 1" descr="/home/claude/pdf_images2/page25_img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089" y="1737360"/>
            <a:ext cx="3032902" cy="4160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5943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Detalle de Venta Asistencial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0" y="61722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venta_detalle y venta_registro asocian el cobro con el catálogo, el paciente y el médico tratante.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1.7 · JUSTIFICACIÓN DE 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 hasta la Tercera Forma Normal (3FN)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práctico: separación de catalogo y productos para evitar redundancias e inconsistencias de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atómicos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columnas contienen valores atómicos, sin grupos repetidos. Los precios (unitario, blister, caja) se definen en columnas DECIMAL individuales.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78808" y="3886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4231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completa de la clave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17720" y="38404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divide la tabla en catalogo (atributos comunes: nombre, tipo, precios, códigos tributarios) y productos (atributos físicos: stock, vencimiento, factor caja).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73568" y="388620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24231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21C0A6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30632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transitivas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0" y="38404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extrae la información del laboratorio a una tabla independiente laboratorios; productos solo almacena id_laboratorio como FK.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1.7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IMPLEMENTACIÓN DE BASE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 DDL — estructura relacional clave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núcleo aplican restricciones físicas (CHECK, FOREIGN KEY, UNIQUE) desde su creación para impedir estados inconsistentes.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492240" cy="4206240"/>
          </a:xfrm>
          <a:prstGeom prst="roundRect">
            <a:avLst>
              <a:gd name="adj" fmla="val 1304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caja_chica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BIGSERIAL PRIMARY KEY,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 VARCHAR(255) NOT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saldo_inicial DECIMAL(15,5) NOT NULL DEFAULT 0.00000,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saldo_actual  DECIMAL(15,5) NOT NULL DEFAULT 0.00000,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estado VARCHAR(50) DEFAULT 'ABIERTA'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(estado IN ('ABIERTA','CERRADA')),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id_usuario_cajero VARCHAR(255) NOT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caja_chica_movimiento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BIGSERIAL PRIMARY KEY,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id_caja_chica BIGINT NOT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caja_chica(id) ON DELETE RESTRICT,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tipo VARCHAR(50) NOT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(tipo IN ('INGRESO','EGRESO')),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monto DECIMAL(15,5) NOT NULL CHECK (monto &gt; 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id_metodo_pago BIGINT NOT 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metodos_pago(id) ON DELETE RESTRICT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físicas aplicadas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423160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0" y="2770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estado y tipo a valores válidos (ABIERTA/CERRADA, INGRESO/EGRESO).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3410712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0" y="3483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0" y="37581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movimiento exige una caja chica y un método de pago existentes.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4398264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0" y="4471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RESTRICT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0" y="47457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borrar una caja chica o un método de pago con movimientos asociados.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5385816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5458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DECIMAL(15,5)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0" y="5733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monetaria exacta, sin errores de redondeo por punto flotante.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DDL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CONSULTAS Y PROGRAMACIÓN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 transaccionales en PL/pgSQL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12B4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saldo de Caja Chica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1181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900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AFTER INSERT en caja_chica_movimiento.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0325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9044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la fila de la caja (FOR UPDATE) para evitar condiciones de carrera.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9469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8188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o resta el monto al saldo_actual según sea INGRESO o EGRESO.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577840"/>
            <a:ext cx="489204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6967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TRIGGER · LANGUAGE plpgsql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12B4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8745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2402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de stock vía Kardex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46520" y="31181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9900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dispara AFTER INSERT en kardex.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0325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9044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artículo corresponda a un producto físico antes de actuar.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4946904"/>
            <a:ext cx="109728" cy="109728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818888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el stock en productos según el signo ('+' o '-') del movimiento.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5577840"/>
            <a:ext cx="489204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56967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8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TRIGGER · LANGUAGE plpgsql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Triggers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CONSULTAS Y PROGRAMACIÓN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Procedimiento almacenado y consultas de negocio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pr_registrar_compra_credito(...)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224942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3969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la cabecera de compra con condición 'CREDITO' y calcula la fecha de vencimiento.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14553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3580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(o inserta) el saldo acumulado en cuenta_provider mediante ON CONFLICT.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04164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31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automáticamente N cuotas en cronograma_pagos, dividiendo el total entre el número de cuotas.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93776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280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ocurre en una sola transacción: si algo falla, no queda un estado parcial.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5303520" cy="4480560"/>
          </a:xfrm>
          <a:prstGeom prst="roundRect">
            <a:avLst>
              <a:gd name="adj" fmla="val 142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analíticas clave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Arqueo de Caja Chica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49631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 ingresos y egresos por método de pago contra el saldo inicial para detectar descuadres en tiempo real.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stock crítico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86791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productos, catálogo, Kardex y sucursal para listar fármacos por debajo de su stock mínimo, priorizados por faltante.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4983480"/>
            <a:ext cx="4846320" cy="91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5120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consultas alimentan reportes en tiempo real del Dashboard Financiero.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Procedimientos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3.4 · EVIDENCIAS DE OPTIMIZACIÓN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 B-Tree: de Seq Scan a Index Only Scan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evaluada: suma de movimientos de Kardex por producto y fecha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0D213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idx_kardex_catalogo_fecha ON kardex(id_catalogo, fecha);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CEEEE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017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Scan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45.12 ms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cost=0.00..8450.00 · rows=15420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recorre toda la tabla kardex fila por fila.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E8F7F3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017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383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Only Scan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8862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 ms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537960" y="4754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cost=0.42..342.12 · rows=15420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5166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usa el índice compuesto y evita leer la tabla completa.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3600% de mejora en el tiempo de ejecución de la consulta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3.4 · Índices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SEGURIDAD, AUDITORÍA Y ADMINISTRACIÓN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Privilegios mínimos y auditoría inmutable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accesos (privilegios mínimos)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577840" cy="3931920"/>
          </a:xfrm>
          <a:prstGeom prst="roundRect">
            <a:avLst>
              <a:gd name="adj" fmla="val 1395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ROLE app_erp_login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LOGIN PASSWORD 'SecuredErpPwd2026';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ALL ON SCHEMA public FROM PUBLIC;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USAGE ON SCHEMA public TO app_erp_login;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SELECT, INSERT,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ALL TABLES IN SCHEMA public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app_erp_login;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 TRUNCATE, DROP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ALL TABLES IN SCHEMA public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app_erp_login;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55080" y="1508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persistente e inmutable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931920"/>
          </a:xfrm>
          <a:prstGeom prst="roundRect">
            <a:avLst>
              <a:gd name="adj" fmla="val 162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249424"/>
            <a:ext cx="118872" cy="118872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1396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trigger global (fn_auditar_tabla_operativa) se dispara en INSERT, UPDATE y DELETE.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3163824"/>
            <a:ext cx="118872" cy="118872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30540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usuario, dirección IP, tabla afectada, operación y el valor anterior vs. el nuevo en formato JSON.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0" y="4078224"/>
            <a:ext cx="118872" cy="118872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9684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sobre datos_personales para auditar cambios de contraseñas y salarios.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4992624"/>
            <a:ext cx="118872" cy="118872"/>
          </a:xfrm>
          <a:prstGeom prst="ellipse">
            <a:avLst/>
          </a:prstGeom>
          <a:solidFill>
            <a:srgbClr val="21C0A6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48828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SystemAuditLog es de solo lectura: ninguna fila puede eliminarse ni modificarse, ni por el superadministrador (RN-07).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 · Seguridad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4.3 · DISASTER RECOVERY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respaldo y recuperación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8249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diario automatizado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programado a las 23:59 h ejecuta pg_dump en formato Custom (.backup), permitiendo restauración selectiva de tablas.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2514600"/>
            <a:ext cx="9966960" cy="45720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254203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pg_dump -h localhost -U postgres -F c -b -v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"/var/backups/postgres/finanzas_med_$(date +%F).backup" clinica_db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5387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4655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retención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346557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backups se conservan 30 días en disco secundario; una copia semanal se replica a almacenamiento frío externo (AWS S3 Glacier).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54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818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7457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Restauración ante caídas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63040" y="5212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corrupción de base de datos, se restaura con pg_restore, limpiando y recreando estructura y datos desde el último backup.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63040" y="5577840"/>
            <a:ext cx="9966960" cy="457200"/>
          </a:xfrm>
          <a:prstGeom prst="roundRect">
            <a:avLst>
              <a:gd name="adj" fmla="val 10000"/>
            </a:avLst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560527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pg_restore -h localhost -U postgres -d clinica_db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FE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--clean --verbose "finanzas_med_ultimo.backup"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Plataforma de Datos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4.3 · DR Plan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consistentes, veloces y trazables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relacional de FINANZAS-MED normaliza hasta 3FN, aplica integridad referencial estricta, ejecuta lógica crítica en triggers PL/pgSQL y protege cada escritura con auditoría inmutable — todo respaldado por una estrategia diaria de backup y recuperación.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023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3FN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completa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8404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4023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 índices B-Tree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4023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inmutable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38404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112B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40233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C0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8972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respaldo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FINANZAS-MED · Entregable 2: Plataforma de Datos del Sistema · UPeU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FINANZAS-MED: Plataforma de Datos del Sistema</dc:title>
  <dc:subject>PptxGenJS Presentation</dc:subject>
  <dc:creator>Condori Pachauri Omar, Flores Llanque Mery Elizabeth, Huahuaccapa Ccama Jaqueline</dc:creator>
  <cp:lastModifiedBy>Condori Pachauri Omar, Flores Llanque Mery Elizabeth, Huahuaccapa Ccama Jaqueline</cp:lastModifiedBy>
  <cp:revision>1</cp:revision>
  <dcterms:created xsi:type="dcterms:W3CDTF">2026-07-07T03:17:24Z</dcterms:created>
  <dcterms:modified xsi:type="dcterms:W3CDTF">2026-07-07T03:17:24Z</dcterms:modified>
</cp:coreProperties>
</file>