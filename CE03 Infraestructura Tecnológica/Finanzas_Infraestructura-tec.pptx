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4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5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6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E2A44"/>
                </a:solidFill>
                <a:latin typeface="Arial"/>
              </a:rPr>
              <a:t>Flujos de datos estimados (Mbps)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Mbps estimados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REST
CRUD</c:v>
                  </c:pt>
                  <c:pt idx="1">
                    <c:v>Auth
JWT</c:v>
                  </c:pt>
                  <c:pt idx="2">
                    <c:v>WebSocket</c:v>
                  </c:pt>
                  <c:pt idx="3">
                    <c:v>Uploads</c:v>
                  </c:pt>
                  <c:pt idx="4">
                    <c:v>BD interna
(back↔PG)</c:v>
                  </c:pt>
                  <c:pt idx="5">
                    <c:v>Kafka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0.1</c:v>
                </c:pt>
                <c:pt idx="2">
                  <c:v>0.4</c:v>
                </c:pt>
                <c:pt idx="3">
                  <c:v>0.5</c:v>
                </c:pt>
                <c:pt idx="4">
                  <c:v>4</c:v>
                </c:pt>
                <c:pt idx="5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A4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E2A44"/>
                </a:solidFill>
                <a:latin typeface="Arial"/>
              </a:rPr>
              <a:t>Costo mensual estimado por fase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mensual (USD)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Fase 0
Piloto</c:v>
                  </c:pt>
                  <c:pt idx="1">
                    <c:v>Fase 1
Sep. BD</c:v>
                  </c:pt>
                  <c:pt idx="2">
                    <c:v>Fase 2
HA</c:v>
                  </c:pt>
                  <c:pt idx="3">
                    <c:v>Fase 3
Producción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50</c:v>
                </c:pt>
                <c:pt idx="2">
                  <c:v>120</c:v>
                </c:pt>
                <c:pt idx="3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E2A44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E2A44"/>
                </a:solidFill>
                <a:latin typeface="Arial"/>
              </a:rPr>
              <a:t>26 activos identificados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Criticidad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433C"/>
              </a:solidFill>
              <a:effectLst/>
            </c:spPr>
          </c:dPt>
          <c:dPt>
            <c:idx val="1"/>
            <c:bubble3D val="0"/>
            <c:spPr>
              <a:solidFill>
                <a:srgbClr val="E08E30"/>
              </a:solidFill>
              <a:effectLst/>
            </c:spPr>
          </c:dPt>
          <c:dPt>
            <c:idx val="2"/>
            <c:bubble3D val="0"/>
            <c:spPr>
              <a:solidFill>
                <a:srgbClr val="D9B2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Crítico (54%)</c:v>
                </c:pt>
                <c:pt idx="1">
                  <c:v>Alto (31%)</c:v>
                </c:pt>
                <c:pt idx="2">
                  <c:v>Medio (15%)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8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E2A44"/>
                </a:solidFill>
                <a:latin typeface="Arial"/>
              </a:rPr>
              <a:t>Consumo de RAM (GiB) — instancia t3.medium (4 GiB)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RAM (GiB)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E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PostgreSQL</c:v>
                  </c:pt>
                  <c:pt idx="1">
                    <c:v>Kafka+ZK</c:v>
                  </c:pt>
                  <c:pt idx="2">
                    <c:v>Backend</c:v>
                  </c:pt>
                  <c:pt idx="3">
                    <c:v>Nginx</c:v>
                  </c:pt>
                  <c:pt idx="4">
                    <c:v>Notif.</c:v>
                  </c:pt>
                  <c:pt idx="5">
                    <c:v>SO + cache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1</c:v>
                </c:pt>
                <c:pt idx="2">
                  <c:v>0.8</c:v>
                </c:pt>
                <c:pt idx="3">
                  <c:v>0.05</c:v>
                </c:pt>
                <c:pt idx="4">
                  <c:v>0.2</c:v>
                </c:pt>
                <c:pt idx="5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E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E2A44"/>
                </a:solidFill>
                <a:latin typeface="Arial"/>
              </a:rPr>
              <a:t>Proyección de crecimiento EBS (GB) — límite 30 GB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 de EBS (GB)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A4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E2A44"/>
                </a:solidFill>
                <a:latin typeface="Arial"/>
              </a:rPr>
              <a:t>Costo mensual estimado en AWS (USD) por eje del proyecto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 (CE0311)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Fase 0/1</c:v>
                  </c:pt>
                  <c:pt idx="1">
                    <c:v>Fase 2</c:v>
                  </c:pt>
                  <c:pt idx="2">
                    <c:v>Fase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120</c:v>
                </c:pt>
                <c:pt idx="2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Centro de Datos (CE0331)</c:v>
                </c:pt>
              </c:strCache>
            </c:strRef>
          </c:tx>
          <c:spPr>
            <a:solidFill>
              <a:srgbClr val="0E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Fase 0/1</c:v>
                  </c:pt>
                  <c:pt idx="1">
                    <c:v>Fase 2</c:v>
                  </c:pt>
                  <c:pt idx="2">
                    <c:v>Fase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</c:v>
                </c:pt>
                <c:pt idx="1">
                  <c:v>115</c:v>
                </c:pt>
                <c:pt idx="2">
                  <c:v>250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Seguridad adicional (CE0321)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Fase 0/1</c:v>
                  </c:pt>
                  <c:pt idx="1">
                    <c:v>Fase 2</c:v>
                  </c:pt>
                  <c:pt idx="2">
                    <c:v>Fase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83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120640"/>
            <a:ext cx="2377440" cy="2377440"/>
          </a:xfrm>
          <a:prstGeom prst="ellipse">
            <a:avLst/>
          </a:prstGeom>
          <a:solidFill>
            <a:srgbClr val="FF990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097280"/>
            <a:ext cx="2926080" cy="292608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ÁREA DE INFRAESTRUCTURA TECNOLÓGICA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Finanzas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Red, Planificación de Seguridad y Diseño de Centro de Datos sobre AWS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CE0311 — Conectividad     </a:t>
            </a:r>
            <a:pPr indent="0" marL="0">
              <a:buNone/>
            </a:pPr>
            <a:r>
              <a:rPr lang="en-US" sz="135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CE0321 — Seguridad     </a:t>
            </a:r>
            <a:pPr indent="0" marL="0">
              <a:buNone/>
            </a:pPr>
            <a:r>
              <a:rPr lang="en-US" sz="135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CE0331 — Infraestructura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5120640" cy="0"/>
          </a:xfrm>
          <a:prstGeom prst="line">
            <a:avLst/>
          </a:prstGeom>
          <a:noFill/>
          <a:ln w="12700">
            <a:solidFill>
              <a:srgbClr val="2A4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Pachauri, Omar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Llanque, Mery Elizabeth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Huahuaccapa Ccama, Jaqueline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IX  ·  6 de julio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EXPOSICIÓN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9679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057400" y="16002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1984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Finanzas, su stack tecnológico y su situación actual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108813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7294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057400" y="2532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(CE0311)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057400" y="291693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Topología, segmentación, redundancia y estándares sobre AWS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447288"/>
            <a:ext cx="108813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66217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493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2057400" y="346557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Seguridad (CE0321)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057400" y="38496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Activos, riesgos, políticas, roles y cumplimiento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379976"/>
            <a:ext cx="108813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453128"/>
            <a:ext cx="566928" cy="566928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594860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4256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2057400" y="439826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Centro de Datos (CE0331)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2057400" y="47823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arquitectura, capacidad, virtualización y cloud híbrido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5312664"/>
            <a:ext cx="1088136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53858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527548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17320" y="53583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2057400" y="533095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hoja de ruta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2057400" y="57150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consolidados y recomendaciones finales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sistema Finanzas?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 financiera y administrativa 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operación multi-sucursal: ventas, compras, caja chica y general, cuentas corrientes, liquidaciones, pago de personal, kardex de inventario y reportes gerenciales.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4.0.1 / Java 21 — 64 controladores REST, 108 servicios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+ TailwindCSS — 48+ módulos funcionales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Notificaciones (Spring Boot) → WebSocket STOMP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5669280" cy="1417320"/>
          </a:xfrm>
          <a:prstGeom prst="rect">
            <a:avLst>
              <a:gd name="adj" fmla="val 3871"/>
            </a:avLst>
          </a:prstGeom>
          <a:solidFill>
            <a:srgbClr val="FCEE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892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486460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8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actual: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stack corre en un entorno de desarrollo local, en una sola instancia, sin proxy, sin balanceo, sin segmentación de red y sin plan de seguridad formal.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5 contenedores Docker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75120" y="1965960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reverso + TLS · :80/443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75120" y="2752344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03720" y="2816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Spring Boot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03720" y="3118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:8084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75120" y="3538728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3602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Service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03720" y="3904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STOMP · :8086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75120" y="4325112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3D5A7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903720" y="4690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· :5432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75120" y="5111496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3D5A7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03720" y="51755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03720" y="5477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· :9092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 del sistema y escala esperada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914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Concurrentes 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 del sistema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Usuarios, roles, permisos, configuración global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operativo por sucursal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Ventas, compras, caja chica/general, kardex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–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/ Jefe de sucursal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Autorización de descuentos y anulaciones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de reportes / gerencia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y reportes consolidados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5448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16952" y="233172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concurrentes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hora pico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16568" y="155448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16568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89720" y="233172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de tráfico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en pico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689336" y="1554480"/>
            <a:ext cx="141732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689336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762488" y="233172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proyectado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6–12 meses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disponibilidad y latencia por componente</a:t>
            </a:r>
            <a:endParaRPr lang="en-US" sz="13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máx.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(transaccional)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 (p95)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(notificaciones)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de frontend (SPA)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s primera carga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 por consulta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1234440" cy="123444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1B2A3D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468880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CE0311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2316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Red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4231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Topología, segmentación y redundancia de bajo costo sobre AWS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CE0311 — DISEÑO DE RED / SEGURIDAD / CENTRO DE DATOS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REQUERIMIENTOS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software y puertos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448056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Angular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20 + Tailwind 4 + ApexCharts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 dev / 80 prod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inverso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+ Let's Encrypt TLS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/ 443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Finanzas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4.0.1 / Java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Mensajería asíncrona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3.5.9 + WebSocket STOMP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Flyway (V1–V11)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 con conectividad saliente</a:t>
            </a:r>
            <a:endParaRPr lang="en-US" sz="13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66928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SMTP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 por correo electrónico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/ STARTTLS :587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y SMS (deshabilitado en 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:443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REQUERIMIENTOS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Estimación de ancho de banda en hora pico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50876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645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Mbps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040880" y="2286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total estimado en hora pico — muy por debajo de los 5 Gbps en ráfaga que ofrece una instancia t3.medium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20040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máx.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transaccional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 (p95)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tiempo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metodológica: el consumo estimado permite consolidar los 5 servicios en una sola instancia sin saturar la red, evitando sobredimensionar la infraestructura.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TOPOLOGÍA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Topología lógica sobre AWS VPC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371600" cy="548640"/>
          </a:xfrm>
          <a:prstGeom prst="ellipse">
            <a:avLst/>
          </a:prstGeom>
          <a:solidFill>
            <a:srgbClr val="334C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0" y="1874520"/>
            <a:ext cx="50292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377440" y="1234440"/>
            <a:ext cx="9281160" cy="5074920"/>
          </a:xfrm>
          <a:prstGeom prst="roundRect">
            <a:avLst>
              <a:gd name="adj" fmla="val 1081"/>
            </a:avLst>
          </a:prstGeom>
          <a:solidFill>
            <a:srgbClr val="EAF1F6"/>
          </a:solidFill>
          <a:ln w="12700">
            <a:solidFill>
              <a:srgbClr val="C3D3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— 10.0.0.0/16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97480" y="1691640"/>
            <a:ext cx="2103120" cy="4389120"/>
          </a:xfrm>
          <a:prstGeom prst="roundRect">
            <a:avLst>
              <a:gd name="adj" fmla="val 2609"/>
            </a:avLst>
          </a:prstGeom>
          <a:solidFill>
            <a:srgbClr val="F2D5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pública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34640" y="24231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2700000">
              <a:srgbClr val="1B2A3D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5603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24688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(proxy + TLS)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46904" y="1691640"/>
            <a:ext cx="2103120" cy="4389120"/>
          </a:xfrm>
          <a:prstGeom prst="roundRect">
            <a:avLst>
              <a:gd name="adj" fmla="val 2609"/>
            </a:avLst>
          </a:prstGeom>
          <a:solidFill>
            <a:srgbClr val="D8EA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38344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84064" y="24231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2700000">
              <a:srgbClr val="1B2A3D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5603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68696" y="24688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Spring Boot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84064" y="324612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2700000">
              <a:srgbClr val="1B2A3D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33832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68696" y="3291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196328" y="1691640"/>
            <a:ext cx="2103120" cy="4389120"/>
          </a:xfrm>
          <a:prstGeom prst="roundRect">
            <a:avLst>
              <a:gd name="adj" fmla="val 2609"/>
            </a:avLst>
          </a:prstGeom>
          <a:solidFill>
            <a:srgbClr val="FCE7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287768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10.0.3.0/24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333488" y="24231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2700000">
              <a:srgbClr val="1B2A3D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256032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18120" y="24688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:5432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7333488" y="324612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2700000">
              <a:srgbClr val="1B2A3D">
                <a:alpha val="1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3383280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818120" y="3291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:9092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9445752" y="1691640"/>
            <a:ext cx="2103120" cy="4389120"/>
          </a:xfrm>
          <a:prstGeom prst="roundRect">
            <a:avLst>
              <a:gd name="adj" fmla="val 2609"/>
            </a:avLst>
          </a:prstGeom>
          <a:solidFill>
            <a:srgbClr val="DCDC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537192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10.0.4.0/24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9582912" y="24231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2700000">
              <a:srgbClr val="1B2A3D">
                <a:alpha val="10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2560320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067544" y="24688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/ SSM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2560320" y="61447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Gateway Endpoint → Amazon S3 (documentos, sin salir a internet)  ·  Rutas: DMZ → App → Datos, tráfico entre subredes filtrado por Security Groups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DESPLIEGUE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piloto vs. arquitectura objetivo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 — Piloto (bajo costo)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EC2 t3.medium (2 vCPU, 4 GiB)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2670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Backend + Notif. + PG + Kafka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32369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gp3 — 30 GB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039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3803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automática CloudWatch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usado (ahorro ~USD 32/mes)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25 – 29 / 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394960" cy="4709160"/>
          </a:xfrm>
          <a:prstGeom prst="roundRect">
            <a:avLst>
              <a:gd name="adj" fmla="val 1165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 — Producción (alta disponibilidad)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EC2 t3.medium en Auto Scaling Group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670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2670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(Application Load Balancer) cross-AZ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236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32369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Multi-AZ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8039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3803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Kafka multi-AZ gestionado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3708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us-east-1a + us-east-1b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937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250 / 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SEGMENTACIÓN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Subredes y grupos de seguridad (equivalente a VLAN)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108960"/>
                <a:gridCol w="4297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funcional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Pública (DMZ)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Nginx, Internet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de acceso público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Backend, Notificaciones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de aplicación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10.0.3.0/24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Kafka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10.0.4.0/24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 Host / AWS SSM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de administración (OOB)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seguridad (Security Groups)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 permitido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80, 443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 (internet)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8084, 8086, 9092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SG-Web / 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5432, 9092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SG-App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(SSH), 443 (SSM)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del administrador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402336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EAF1F6"/>
          </a:solidFill>
          <a:ln/>
        </p:spPr>
      </p:sp>
      <p:sp>
        <p:nvSpPr>
          <p:cNvPr id="8" name="Text 4"/>
          <p:cNvSpPr/>
          <p:nvPr/>
        </p:nvSpPr>
        <p:spPr>
          <a:xfrm>
            <a:off x="653796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como barrera de entrada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37960" y="44805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entrada desde internet vía Internet Gateway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termina TLS, valida cabeceras y reenvía sin exponer puertos internos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NAT Gateway: ahorro de ~USD 32/mes usando Security Groups como aislamiento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S3 vía VPC Gateway Endpoint, sin pasar por internet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REDUNDANCIA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Mecanismos de alta disponibilidad de bajo costo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790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automática EC2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 → Recover instance. RTO 5–15 min, sin costo adicional.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55648"/>
            <a:ext cx="502920" cy="502920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18790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automáticos EBS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245059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DLM: snapshot diario, retención 7 días. ~USD 0.35/mes.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556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18790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 de S3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75320" y="245059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99.999999999% (11 nueves) para documentos y comprobantes.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95928"/>
            <a:ext cx="502920" cy="502920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1193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elástica (EIP)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69087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de IP en segundos ante reemplazo de instancia.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11937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en 2 niveles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469087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(CloudWatch) + aplicación (Spring Actuator).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995928"/>
            <a:ext cx="502920" cy="502920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764" y="411937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como buffer de resiliencia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75320" y="469087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mensajes se retienen 7 días si el consumidor cae.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CONTINUIDAD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únicos de falla (SPOF) — piloto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356616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futura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 EC2 única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Recuperación automática + snapshot diario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Scaling Group (2+) tras ALB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EBS gp3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DLM, retención 7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Multi-AZ / MSK Multi-AZ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(proxy)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Recuperación automática + EIP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instancias Nginx tras ALB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 (single broker)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Degradación controlada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MSK con 3 brokers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(single node)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 replay + snapshot diario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Multi-AZ, failover ~60-120s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simplificado (piloto)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38928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03320"/>
                <a:gridCol w="3703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de 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de hardware EC2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20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Corrupción de 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60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CUMPLIMIENTO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 aplicados en la capa de 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TIA/EIA-568 / 569 / 942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 estructurado y centros de datos — responsabilidad de AWS (Tier III+ certificado)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190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802.1Q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1214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— equivalente lógico: subredes VPC + Security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69417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— ENI de EC2 hasta 5 Gbps en ráfaga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12724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/ 27017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69417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 y controles cloud — responsabilidad compartida AWS / estudiante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864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Tier III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26694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concurrente aplicada por AWS en sus centros de datos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700016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864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526694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pilares: operación, seguridad, confiabilidad, rendimiento, costo, sostenibilidad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 · COSTOS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costos: piloto → producción completa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— Fase 0 (piloto), bajo demanda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20240"/>
          <a:ext cx="4389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Costo/mes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t3.medium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25.18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gp3 30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DLM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0.65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+ transferencia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1.05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elástica / CloudWatch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29.28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223760" y="4160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instancia reservada (1 año): ~USD 19.70/mes. Con créditos de cuenta educativa: puede ser USD 0.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1234440" cy="123444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1B2A3D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468880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CE0321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2316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Seguridad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4231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críticos, análisis de riesgos, políticas, roles y cumplimiento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CE0321 — DISEÑO DE RED / SEGURIDAD / CENTRO DE DATOS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ACTIVOS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 y clasificación de activos críticos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554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críticos destacados (nivel Crítico)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1993392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21808" y="194767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 (laboratorio_db)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2523744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A-03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321808" y="247802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criptográficas RSA (JWT)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3054096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21808" y="300837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autenticación JWT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3584448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21808" y="353872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base de datos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4114800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321808" y="40690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(Ley N.° 29733)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75320" y="1993392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22" name="Text 19"/>
          <p:cNvSpPr/>
          <p:nvPr/>
        </p:nvSpPr>
        <p:spPr>
          <a:xfrm>
            <a:off x="827532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A-20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750808" y="194767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la aplicación (secretos en texto plano)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75320" y="2523744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25" name="Text 22"/>
          <p:cNvSpPr/>
          <p:nvPr/>
        </p:nvSpPr>
        <p:spPr>
          <a:xfrm>
            <a:off x="827532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750808" y="247802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único punto de entrada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3054096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28" name="Text 25"/>
          <p:cNvSpPr/>
          <p:nvPr/>
        </p:nvSpPr>
        <p:spPr>
          <a:xfrm>
            <a:off x="827532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A-22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750808" y="300837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EC2 t3.medium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3584448"/>
            <a:ext cx="384048" cy="384048"/>
          </a:xfrm>
          <a:prstGeom prst="ellipse">
            <a:avLst/>
          </a:prstGeom>
          <a:solidFill>
            <a:srgbClr val="C8433C"/>
          </a:solidFill>
          <a:ln/>
        </p:spPr>
      </p:sp>
      <p:sp>
        <p:nvSpPr>
          <p:cNvPr id="31" name="Text 28"/>
          <p:cNvSpPr/>
          <p:nvPr/>
        </p:nvSpPr>
        <p:spPr>
          <a:xfrm>
            <a:off x="82753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750808" y="353872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y configuración de red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ANÁLISIS DE RIESGOS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ISO/IEC 27005 + NIST SP 800-30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= Probabilidad × Impacto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–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inmediata (prioridad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planificada (prioridad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B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y mejora continua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9E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Aceptar o monitorear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escenarios de riesgo evaluados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201168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4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30936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35240" y="201168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3524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8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63524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61120" y="201168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96112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96112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287000" y="201168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287000" y="21214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9E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0287000" y="2651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3520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residual promedio (post-control): 4.1 / 16 — probabilidad promedio 2.2/4, impacto promedio 3.5/4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29768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58000" y="4297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evalúan amenazas sobre los activos críticos identificados: filtración de credenciales, ataques de fuerza bruta, inyección SQL, DoS, robo de tokens, y más.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ANÁLISIS DE RIESGOS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de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353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(1)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80560" y="1353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(2)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0" y="1353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(3)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0" y="1353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 (4)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 (4)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737360"/>
            <a:ext cx="2139696" cy="813816"/>
          </a:xfrm>
          <a:prstGeom prst="rect">
            <a:avLst/>
          </a:prstGeom>
          <a:solidFill>
            <a:srgbClr val="D9B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37360"/>
            <a:ext cx="2139696" cy="813816"/>
          </a:xfrm>
          <a:prstGeom prst="rect">
            <a:avLst/>
          </a:prstGeom>
          <a:solidFill>
            <a:srgbClr val="E08E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737360"/>
            <a:ext cx="2139696" cy="813816"/>
          </a:xfrm>
          <a:prstGeom prst="rect">
            <a:avLst/>
          </a:prstGeom>
          <a:solidFill>
            <a:srgbClr val="C843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1737360"/>
            <a:ext cx="2139696" cy="813816"/>
          </a:xfrm>
          <a:prstGeom prst="rect">
            <a:avLst/>
          </a:prstGeom>
          <a:solidFill>
            <a:srgbClr val="C843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(3)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606040"/>
            <a:ext cx="2139696" cy="813816"/>
          </a:xfrm>
          <a:prstGeom prst="rect">
            <a:avLst/>
          </a:prstGeom>
          <a:solidFill>
            <a:srgbClr val="D9B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606040"/>
            <a:ext cx="2139696" cy="813816"/>
          </a:xfrm>
          <a:prstGeom prst="rect">
            <a:avLst/>
          </a:prstGeom>
          <a:solidFill>
            <a:srgbClr val="E08E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606040"/>
            <a:ext cx="2139696" cy="813816"/>
          </a:xfrm>
          <a:prstGeom prst="rect">
            <a:avLst/>
          </a:prstGeom>
          <a:solidFill>
            <a:srgbClr val="E08E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606040"/>
            <a:ext cx="21396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R-03, R-06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69680" y="2606040"/>
            <a:ext cx="2139696" cy="813816"/>
          </a:xfrm>
          <a:prstGeom prst="rect">
            <a:avLst/>
          </a:prstGeom>
          <a:solidFill>
            <a:srgbClr val="C843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606040"/>
            <a:ext cx="21396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R-02, R-10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(2)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3474720"/>
            <a:ext cx="2139696" cy="813816"/>
          </a:xfrm>
          <a:prstGeom prst="rect">
            <a:avLst/>
          </a:prstGeom>
          <a:solidFill>
            <a:srgbClr val="5C9E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474720"/>
            <a:ext cx="2139696" cy="813816"/>
          </a:xfrm>
          <a:prstGeom prst="rect">
            <a:avLst/>
          </a:prstGeom>
          <a:solidFill>
            <a:srgbClr val="D9B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3474720"/>
            <a:ext cx="2139696" cy="813816"/>
          </a:xfrm>
          <a:prstGeom prst="rect">
            <a:avLst/>
          </a:prstGeom>
          <a:solidFill>
            <a:srgbClr val="E08E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474720"/>
            <a:ext cx="21396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R-05,R-07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R-08,R-15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0" y="3474720"/>
            <a:ext cx="2139696" cy="813816"/>
          </a:xfrm>
          <a:prstGeom prst="rect">
            <a:avLst/>
          </a:prstGeom>
          <a:solidFill>
            <a:srgbClr val="E08E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3474720"/>
            <a:ext cx="21396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R-01,R-04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R-09,R-11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R-12,R-13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343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4343400"/>
            <a:ext cx="2139696" cy="813816"/>
          </a:xfrm>
          <a:prstGeom prst="rect">
            <a:avLst/>
          </a:prstGeom>
          <a:solidFill>
            <a:srgbClr val="5C9E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343400"/>
            <a:ext cx="2139696" cy="813816"/>
          </a:xfrm>
          <a:prstGeom prst="rect">
            <a:avLst/>
          </a:prstGeom>
          <a:solidFill>
            <a:srgbClr val="5C9E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4343400"/>
            <a:ext cx="2139696" cy="813816"/>
          </a:xfrm>
          <a:prstGeom prst="rect">
            <a:avLst/>
          </a:prstGeom>
          <a:solidFill>
            <a:srgbClr val="D9B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343400"/>
            <a:ext cx="21396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69680" y="4343400"/>
            <a:ext cx="2139696" cy="813816"/>
          </a:xfrm>
          <a:prstGeom prst="rect">
            <a:avLst/>
          </a:prstGeom>
          <a:solidFill>
            <a:srgbClr val="D9B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 rot="16200000">
            <a:off x="274320" y="2953512"/>
            <a:ext cx="274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↑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5440680"/>
            <a:ext cx="274320" cy="274320"/>
          </a:xfrm>
          <a:prstGeom prst="rect">
            <a:avLst/>
          </a:prstGeom>
          <a:solidFill>
            <a:srgbClr val="C8433C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5440680"/>
            <a:ext cx="274320" cy="274320"/>
          </a:xfrm>
          <a:prstGeom prst="rect">
            <a:avLst/>
          </a:prstGeom>
          <a:solidFill>
            <a:srgbClr val="E08E30"/>
          </a:solidFill>
          <a:ln/>
        </p:spPr>
      </p:sp>
      <p:sp>
        <p:nvSpPr>
          <p:cNvPr id="38" name="Text 36"/>
          <p:cNvSpPr/>
          <p:nvPr/>
        </p:nvSpPr>
        <p:spPr>
          <a:xfrm>
            <a:off x="4160520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5440680"/>
            <a:ext cx="274320" cy="274320"/>
          </a:xfrm>
          <a:prstGeom prst="rect">
            <a:avLst/>
          </a:prstGeom>
          <a:solidFill>
            <a:srgbClr val="D9B23C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0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5440680"/>
            <a:ext cx="274320" cy="274320"/>
          </a:xfrm>
          <a:prstGeom prst="rect">
            <a:avLst/>
          </a:prstGeom>
          <a:solidFill>
            <a:srgbClr val="5C9E6F"/>
          </a:solidFill>
          <a:ln/>
        </p:spPr>
      </p:sp>
      <p:sp>
        <p:nvSpPr>
          <p:cNvPr id="42" name="Text 40"/>
          <p:cNvSpPr/>
          <p:nvPr/>
        </p:nvSpPr>
        <p:spPr>
          <a:xfrm>
            <a:off x="7269480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ANÁLISIS DE RIESGOS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críticos y altos prioritarios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97680"/>
                <a:gridCol w="1554480"/>
                <a:gridCol w="4480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propuesto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Credenciales en texto plano (application.properties)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Secrets Manager + variables de entorno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 de token JWT (localStorage + XSS)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4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 cookie + boundary tokens (IP/UA)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 al login sin rate limiting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Nginx + AWS WAF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Denegación de servicio (DoS/DDoS)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Shield + CloudFront + rate limiting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Filtración de llaves RSA privadas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Manager / CloudHSM + rotación 90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expuesto a internet (puerto 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Deshabilitar SSH público, usar AWS SSM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 sin cifrado de columna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 pgcrypto + enmascaramiento en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ANÁLISIS DE RIESGOS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tratamiento de riesgos (por prioridad)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480560"/>
                <a:gridCol w="2834640"/>
                <a:gridCol w="1463040"/>
                <a:gridCol w="146304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Migrar credenciales a Secrets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0–4/mes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Migrar JWT de localStorage a HttpOnly cookie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Nginx + AWS WAF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 Infraestructura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0–20/mes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Shield + CloudFront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 Infraestructura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0–30/mes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Deshabilitar SSH, migrar a SSM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 Infraestructura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Cifrar columnas sensibles (pgcrypto)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+ rollback de migraciones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TLS/SASL en Kafka y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 Infraestructura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POLÍTICAS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dominios de política de seguridad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170992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8562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8620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privilegio, MFA, sesiones ≤3, bloqueo por intentos fallidos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1709928"/>
            <a:ext cx="585216" cy="585216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8562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Datos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29000" y="28620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cifrado en reposo/tránsito, retención, enmascaramiento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35040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5452" y="170992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185623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Credenciales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72200" y="28620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Prohibición de secretos en código, rotación periódica, IAM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778240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88652" y="1709928"/>
            <a:ext cx="585216" cy="585216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956" y="18562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1540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Red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915400" y="286207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zonas, denegación por defecto, sin SSH público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59052" y="404164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5356" y="418795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754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Aplicaciones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5800" y="51937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entrada, OWASP Top 10, cabeceras HTTP, pentest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291840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02252" y="4041648"/>
            <a:ext cx="585216" cy="585216"/>
          </a:xfrm>
          <a:prstGeom prst="ellipse">
            <a:avLst/>
          </a:prstGeom>
          <a:solidFill>
            <a:srgbClr val="0E2A4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556" y="418795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29000" y="4754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Incidentes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429000" y="51937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SLA de respuesta, notificación a autoridades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035040" y="384048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045452" y="404164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756" y="418795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72200" y="4754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Física (Cloud)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172200" y="51937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 AWS, alertas de presupuesto y CloudTrail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ROLES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organizacional de seguridad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ESTRATÉGICO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Seguridad de la Información (CSI)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políticas, autoriza inversiones, define tolerancia al riesgo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TÁCTICO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826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 del Sistema · Admin. de Infraestructura · Oficial de Cumplimiento (DPO)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301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VPC/SGs, gestiona usuarios y roles, vela por Ley 29733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3D5A7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315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OPERATIVO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6085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operativos · Desarrolladores · Auditores externos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9560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 el sistema, implementan controles, realizan pentests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ROLES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RACI (extracto) y segregación de funciones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92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005840"/>
                <a:gridCol w="1005840"/>
                <a:gridCol w="548640"/>
                <a:gridCol w="4572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Adm. Sist.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Adm. Infra.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Aprobar políticas de seguridad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Rotar llaves RSA / credenciales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VPC / SGs / WAF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Reportar incidente crítico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Notificar violación de datos (Ley 29733)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pentest trimestral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Responsable  ·  A = Rinde cuentas  ·  C = Consultado  ·  I = Informado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269480" y="1508760"/>
            <a:ext cx="4343400" cy="4709160"/>
          </a:xfrm>
          <a:prstGeom prst="roundRect">
            <a:avLst>
              <a:gd name="adj" fmla="val 1263"/>
            </a:avLst>
          </a:prstGeom>
          <a:solidFill>
            <a:srgbClr val="FCEEEE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8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Segregación de funciones (SOD) — combinaciones prohibidas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3317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82128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del Sistema + Usuario Operativo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99008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82128" y="2944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 + Asignar Roles + Auditor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4845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82128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 + Admin. de Infraestructura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30682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882128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Ventas + Autorizador de Descuentos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CUMPLIMIENTO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Marcos normativos y de buenas prácticas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594360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Internacionales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27685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/ 27002 / 27005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314553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27017 / 27018 / 27701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40142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800-30 / 800-53 / 800-61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3776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488289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/ ASVS 4.0.3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343400" y="155448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343400" y="1554480"/>
            <a:ext cx="3611880" cy="594360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17" name="Text 11"/>
          <p:cNvSpPr/>
          <p:nvPr/>
        </p:nvSpPr>
        <p:spPr>
          <a:xfrm>
            <a:off x="4343400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peruana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3317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10328" y="227685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N.° 29733 — Protección de Datos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0040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0328" y="314553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D.S. N.° 003-2013-JUS (reglamento)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069080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10328" y="40142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R.D. N.° 019-2013-JUS/DGPDP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93776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10328" y="488289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N.° 27269 — Firmas Digitales</a:t>
            </a:r>
            <a:endParaRPr lang="en-US" sz="1050" dirty="0"/>
          </a:p>
        </p:txBody>
      </p:sp>
      <p:sp>
        <p:nvSpPr>
          <p:cNvPr id="26" name="Shape 16"/>
          <p:cNvSpPr/>
          <p:nvPr/>
        </p:nvSpPr>
        <p:spPr>
          <a:xfrm>
            <a:off x="8138160" y="155448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8138160" y="1554480"/>
            <a:ext cx="3611880" cy="594360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28" name="Text 18"/>
          <p:cNvSpPr/>
          <p:nvPr/>
        </p:nvSpPr>
        <p:spPr>
          <a:xfrm>
            <a:off x="8138160" y="1554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cloud AWS</a:t>
            </a:r>
            <a:endParaRPr lang="en-US" sz="14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2331720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705088" y="227685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Framework</a:t>
            </a:r>
            <a:endParaRPr lang="en-US" sz="10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760" y="3200400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705088" y="314553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Shared Responsibility Model</a:t>
            </a:r>
            <a:endParaRPr lang="en-US" sz="10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4069080"/>
            <a:ext cx="256032" cy="25603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705088" y="40142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(Ubuntu, PostgreSQL, Docker)</a:t>
            </a:r>
            <a:endParaRPr lang="en-US" sz="10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6760" y="4937760"/>
            <a:ext cx="256032" cy="25603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705088" y="488289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AWS Foundations Benchmark</a:t>
            </a:r>
            <a:endParaRPr lang="en-US" sz="1050" dirty="0"/>
          </a:p>
        </p:txBody>
      </p:sp>
      <p:sp>
        <p:nvSpPr>
          <p:cNvPr id="3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1234440" cy="123444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1B2A3D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468880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CE0331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2316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Centro de Datos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4231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fases, capacidad, virtualización y cloud híbrido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CE0331 — DISEÑO DE RED / SEGURIDAD / CENTRO DE DATOS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fases equivalentes a los niveles Uptime Institute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Piloto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Equiv. Tier II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3154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EC2 t3.medium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Kafka en Docker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automática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~99.5–99.7%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29/mes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Crecimiento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0299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Equiv. Tier III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423160"/>
            <a:ext cx="3154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EC2 t3.large + ALB + ASG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Single-AZ, MSK Serverless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Mantenim. concurrente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251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~99.9–99.98%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800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100–130/mes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50876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3D5A7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6676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Producción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66760" y="20299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Equiv. Tier III+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0" y="2423160"/>
            <a:ext cx="31546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× EC2 t3.large (2 AZ)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Multi-AZ, MSK Multi-AZ, Redis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3703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SPOFs, WAF + CloudFront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4251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~99.98–99.995%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4800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200–300/mes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COMPARATIVA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cuantitativa entre fases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~99.5–99.7%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~99.9–99.98%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~99.98–99.995%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~22–44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~1.8–8.8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 min–1.6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/ RPO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 / 24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min / 5–15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min / &lt; 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(EC2, EBS, BD, Kafka, Nginx)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(RDS Single-AZ)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Instancias EC2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100–130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200–300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CAPACIDAD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Cuello de botella identificado — Fase 1 (RAM)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309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55448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C8433C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691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98.75%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269480" y="2468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utilización de RAM en hora pico — sin margen. Riesgo de OOM-kill de PostgreSQL o Kafka.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urgente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40880" y="3794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t3.large (8 GiB RAM) — costo adicional ~USD 12/mes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PostgreSQL a RDS Single-AZ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Kafka a MSK Serverless (Fase 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2 vCPU al 100% en pico (Fase 1) — contención entre PostgreSQL y Backend por los mismos núcleos. Fases 2 y 3 quedan sobradas (~45% y baja utilización respectivamente).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CAPACIDAD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Almacenamiento, energía y crecimiento proyectado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943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energético por fase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9202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Cómputo (EC2)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~384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centro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~118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~551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~1.03 MWh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~4.83 MWh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 (AWS)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029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EBS gp3 (30 GB) cubre ~30 meses de crecimiento con margen de seguridad del 20%. IOPS utilizadas en pico: ~22% de las 3,000 IOPS base. Ancho de banda: &lt;1% de la capacidad ENI.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VIRTUALIZACIÓN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(implementado) vs. VMware (alternativa)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(implementado)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vSphere (alternativa)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virtualización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nivel de SO (contenedores)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Hipervisor tipo 1 (VMs completas)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 imagen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(capas delta)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(disco completo)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licencias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 (open source)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Licenciamiento por 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Adecuación para Finanzas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9E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8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(sobredimensionado)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1F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Docker es la opción correcta para el stack actual. VMware solo se justificaría con SO invitados mixtos (Windows+Linux), aislamiento de kernel obligatorio por compliance, o migración desde infraestructura on-premise ya invertida en VMware.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CLOUD HÍBRIDO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integración cloud híbrido (Fase 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566160"/>
          </a:xfrm>
          <a:prstGeom prst="roundRect">
            <a:avLst>
              <a:gd name="adj" fmla="val 1795"/>
            </a:avLst>
          </a:prstGeom>
          <a:solidFill>
            <a:srgbClr val="0E2A44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(nube pública)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ALB + WAF (presentación)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(Nginx + Backend + Notificaciones)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Multi-AZ, MSK Multi-AZ, ElastiCache Redis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(documentos y backups)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06440" y="306324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0040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0" y="3364992"/>
            <a:ext cx="13716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3364992"/>
            <a:ext cx="137160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37960" y="1554480"/>
            <a:ext cx="5074920" cy="3566160"/>
          </a:xfrm>
          <a:prstGeom prst="roundRect">
            <a:avLst>
              <a:gd name="adj" fmla="val 1795"/>
            </a:avLst>
          </a:prstGeom>
          <a:solidFill>
            <a:srgbClr val="3D5A73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FÍSICA (on-premise)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12280" y="224028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 corporativa: servidor local con réplica de BD parcial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 remota: cliente web Angular + internet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Conexión: AWS Direct Connect o VPN Site-to-Site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85232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 de banda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Costo/mes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(HTTPS)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10–500 Mbps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20–100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Site-to-Site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Mbps–1 Gbps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Direct Connect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Mbps–10 Gbps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· HOJA DE RUTA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migración: piloto → producción completa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97380" y="2423160"/>
            <a:ext cx="8503920" cy="0"/>
          </a:xfrm>
          <a:prstGeom prst="line">
            <a:avLst/>
          </a:prstGeom>
          <a:noFill/>
          <a:ln w="38100">
            <a:solidFill>
              <a:srgbClr val="5FA8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103120"/>
            <a:ext cx="640080" cy="640080"/>
          </a:xfrm>
          <a:prstGeom prst="ellipse">
            <a:avLst/>
          </a:prstGeom>
          <a:solidFill>
            <a:srgbClr val="0E2A4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773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063240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02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EC2 t3.medium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25/mes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1980" y="2103120"/>
            <a:ext cx="640080" cy="640080"/>
          </a:xfrm>
          <a:prstGeom prst="ellipse">
            <a:avLst/>
          </a:prstGeom>
          <a:solidFill>
            <a:srgbClr val="0E2A4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119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29000" y="3063240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3502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BD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1188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Single-AZ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Serverless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1188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50/mes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46620" y="2103120"/>
            <a:ext cx="640080" cy="640080"/>
          </a:xfrm>
          <a:prstGeom prst="ellipse">
            <a:avLst/>
          </a:prstGeom>
          <a:solidFill>
            <a:srgbClr val="0E2A4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466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502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ASG (2 inst.)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120/mes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81260" y="2103120"/>
            <a:ext cx="640080" cy="640080"/>
          </a:xfrm>
          <a:prstGeom prst="ellipse">
            <a:avLst/>
          </a:prstGeom>
          <a:solidFill>
            <a:srgbClr val="FF990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812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098280" y="3063240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8116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81160" y="3502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completa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8116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AZ, MSK Multi-AZ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CloudFront, Redis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8116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~USD 250/mes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consolidados del proyecto por fase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790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bajo costo, escalable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segmentada de 4 subredes permite crecer sin rediseño; ahorro de ~USD 32/mes al prescindir de NAT Gateway en el piloto.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75564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18790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190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es el cuello de botella actual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98.75% de utilización en t3.medium exige migración prioritaria a t3.large o separación de servicios gestionados.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1193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59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riesgos críticos requieren acción inmediata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4663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texto plano (R-02) y robo de token JWT (R-10) deben resolverse en las primeras 1–2 semanas.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3D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9592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41193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959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migración clara y de bajo riesgo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46520" y="4663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(piloto → producción) con costos crecientes de USD 25 a USD 250–300/mes, cada una con hitos y SLA definidos.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— PROYECTO INTEGRADOR CE0311 · CE0321 · CE0331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114800" cy="411480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Finanzas — Arquitectura de Red, Seguridad y Centro de Datos sobre AWS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Pachauri, Omar  ·  Flores Llanque, Mery Elizabeth  ·  Huahuaccapa Ccama, Jaqueline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IX  ·  Área de Infraestructura Tecnológica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 — Arquitectura Cloud, Seguridad y Centro de Datos sobre AWS</dc:title>
  <dc:subject>PptxGenJS Presentation</dc:subject>
  <dc:creator>Condori Pachauri Omar, Flores Llanque Mery Elizabeth, Huahuaccapa Ccama Jaqueline</dc:creator>
  <cp:lastModifiedBy>Condori Pachauri Omar, Flores Llanque Mery Elizabeth, Huahuaccapa Ccama Jaqueline</cp:lastModifiedBy>
  <cp:revision>1</cp:revision>
  <dcterms:created xsi:type="dcterms:W3CDTF">2026-07-07T06:11:13Z</dcterms:created>
  <dcterms:modified xsi:type="dcterms:W3CDTF">2026-07-07T06:11:13Z</dcterms:modified>
</cp:coreProperties>
</file>