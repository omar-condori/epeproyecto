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3E7C8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D9A404">
              <a:alpha val="12000"/>
            </a:srgbClr>
          </a:solidFill>
          <a:ln/>
        </p:spPr>
      </p:sp>
      <p:pic>
        <p:nvPicPr>
          <p:cNvPr id="4" name="Image 0" descr="icons/hospital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53035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PERUANA UNIÓN  ·  FACULTAD DE INGENIERÍA Y ARQUITECTURA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Finanzas-Clinic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3429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Organizacional y Alineamiento Estratégico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Financiera y Administrativa  ·  Caso de Estudio: Clínica Médica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8368" y="4617720"/>
            <a:ext cx="2011680" cy="0"/>
          </a:xfrm>
          <a:prstGeom prst="line">
            <a:avLst/>
          </a:prstGeom>
          <a:noFill/>
          <a:ln w="25400">
            <a:solidFill>
              <a:srgbClr val="D9A40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8463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Condori Pachauri Omar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Flores Llanque Mery Elizabeth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Huahuaccapa Ccama Jaqueline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0" y="48463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Profesional de Ingeniería de Sistemas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Juliaca, Perú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Antecedentes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digitalización financiera dejó de ser una ventaja para convertirse en un estándar del sector salud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23C6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cons/glob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91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Internacional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Chile, Colombia y México ya aplican políticas de interoperabilidad y expediente clínico digital. La automatización de facturación y admisión ha reducido hasta un 30% los costos operativos y mejora la fidelización de pacientes.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68680" y="388620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38862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-30%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68680" y="4526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286000" y="3977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costos operativos en clínicas privadas de la región que digitalizaron admisión y facturación.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7920" y="141732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icons/landmar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9164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1691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Situación en el Perú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537960" y="2359152"/>
            <a:ext cx="146304" cy="146304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16" name="Text 12"/>
          <p:cNvSpPr/>
          <p:nvPr/>
        </p:nvSpPr>
        <p:spPr>
          <a:xfrm>
            <a:off x="6858000" y="22585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SUSALUD: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calidad de atención y protección de datos personales (Ley N° 29733) en toda IPRESS.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537960" y="3072384"/>
            <a:ext cx="146304" cy="146304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0" y="29718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SUNAT: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 a la emisión síncrona de comprobantes electrónicos (boletas y facturas).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537960" y="3785616"/>
            <a:ext cx="146304" cy="146304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20" name="Text 16"/>
          <p:cNvSpPr/>
          <p:nvPr/>
        </p:nvSpPr>
        <p:spPr>
          <a:xfrm>
            <a:off x="6858000" y="368503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de inversión: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clínicas medianas no acceden a ERPs internacionales (SAP, Oracle) y dependen de Excel.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537960" y="4498848"/>
            <a:ext cx="146304" cy="146304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22" name="Text 18"/>
          <p:cNvSpPr/>
          <p:nvPr/>
        </p:nvSpPr>
        <p:spPr>
          <a:xfrm>
            <a:off x="6858000" y="439826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Silos de información: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Contabilidad, logística y cajas operan aisladas, generando errores y descuadres financieros.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 |  Diagnóstico Organizacional  |  UPEU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Entorno Competitivo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las 5 Fuerzas de Porter aplicado a la Clínica Médica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68096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128016" cy="768096"/>
          </a:xfrm>
          <a:prstGeom prst="roundRect">
            <a:avLst/>
          </a:prstGeom>
          <a:solidFill>
            <a:srgbClr val="B3541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08760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Rivalidad entre competidores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60520" y="1655064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B3541E"/>
          </a:solidFill>
          <a:ln/>
        </p:spPr>
      </p:sp>
      <p:sp>
        <p:nvSpPr>
          <p:cNvPr id="8" name="Text 6"/>
          <p:cNvSpPr/>
          <p:nvPr/>
        </p:nvSpPr>
        <p:spPr>
          <a:xfrm>
            <a:off x="4160520" y="165506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760720" y="1508760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Competidores ya cuentan con ERPs integrados y más convenios de seguros.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11064240" cy="768096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404872"/>
            <a:ext cx="128016" cy="768096"/>
          </a:xfrm>
          <a:prstGeom prst="roundRect">
            <a:avLst/>
          </a:prstGeom>
          <a:solidFill>
            <a:srgbClr val="D9A40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40487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Poder de los pacientes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60520" y="2551176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D9A404"/>
          </a:solidFill>
          <a:ln/>
        </p:spPr>
      </p:sp>
      <p:sp>
        <p:nvSpPr>
          <p:cNvPr id="14" name="Text 12"/>
          <p:cNvSpPr/>
          <p:nvPr/>
        </p:nvSpPr>
        <p:spPr>
          <a:xfrm>
            <a:off x="4160520" y="255117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Media-Alta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760720" y="2404872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 tiempos de espera cortos y facturación sin errores.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00984"/>
            <a:ext cx="11064240" cy="768096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300984"/>
            <a:ext cx="128016" cy="768096"/>
          </a:xfrm>
          <a:prstGeom prst="roundRect">
            <a:avLst/>
          </a:prstGeom>
          <a:solidFill>
            <a:srgbClr val="3E7C8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300984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Poder de proveedores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60520" y="3447288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3E7C8C"/>
          </a:solidFill>
          <a:ln/>
        </p:spPr>
      </p:sp>
      <p:sp>
        <p:nvSpPr>
          <p:cNvPr id="20" name="Text 18"/>
          <p:cNvSpPr/>
          <p:nvPr/>
        </p:nvSpPr>
        <p:spPr>
          <a:xfrm>
            <a:off x="4160520" y="34472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760720" y="3300984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Controlan stocks e insumos; requieren pagos ágiles.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197096"/>
            <a:ext cx="11064240" cy="768096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197096"/>
            <a:ext cx="128016" cy="768096"/>
          </a:xfrm>
          <a:prstGeom prst="roundRect">
            <a:avLst/>
          </a:prstGeom>
          <a:solidFill>
            <a:srgbClr val="123C69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197096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Amenaza de nuevos entrantes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160520" y="434340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23C69"/>
          </a:solidFill>
          <a:ln/>
        </p:spPr>
      </p:sp>
      <p:sp>
        <p:nvSpPr>
          <p:cNvPr id="26" name="Text 24"/>
          <p:cNvSpPr/>
          <p:nvPr/>
        </p:nvSpPr>
        <p:spPr>
          <a:xfrm>
            <a:off x="4160520" y="43434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Baja-Media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760720" y="4197096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inversión y permisos complejos limitan el ingreso.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093208"/>
            <a:ext cx="11064240" cy="768096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5093208"/>
            <a:ext cx="128016" cy="768096"/>
          </a:xfrm>
          <a:prstGeom prst="roundRect">
            <a:avLst/>
          </a:prstGeom>
          <a:solidFill>
            <a:srgbClr val="7C8B96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093208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Productos sustitutos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160520" y="5239512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7C8B96"/>
          </a:solidFill>
          <a:ln/>
        </p:spPr>
      </p:sp>
      <p:sp>
        <p:nvSpPr>
          <p:cNvPr id="32" name="Text 30"/>
          <p:cNvSpPr/>
          <p:nvPr/>
        </p:nvSpPr>
        <p:spPr>
          <a:xfrm>
            <a:off x="4160520" y="52395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760720" y="5093208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 alternativa o consultorios pequeños periféricos.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 |  Diagnóstico Organizacional  |  UPEU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Organizacional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Organigrama y principales brechas operativas por área</a:t>
            </a:r>
            <a:endParaRPr lang="en-US" sz="1400" dirty="0"/>
          </a:p>
        </p:txBody>
      </p:sp>
      <p:pic>
        <p:nvPicPr>
          <p:cNvPr id="4" name="Image 0" descr="images/page5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386765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01165" y="1463040"/>
            <a:ext cx="633914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General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consolidados manuales en Excel; sin reportes financieros en tiempo real.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301165" y="2514600"/>
            <a:ext cx="633914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 y Finanzas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Mermas no identificadas en caja chica; retraso en cobro de copagos corporativos.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301165" y="3566160"/>
            <a:ext cx="633914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Depreciación de activos calculada en plantillas Excel propensas a errores.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301165" y="4617720"/>
            <a:ext cx="633914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 y Cajas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Descuadres de hasta 15% por transcripción manual al facturador externo.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 |  Diagnóstico Organizacional  |  UPEU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Cadena de Valor y Análisis de Ineficiencias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de la falta de un sistema unificado en cada actividad</a:t>
            </a:r>
            <a:endParaRPr lang="en-US" sz="1400" dirty="0"/>
          </a:p>
        </p:txBody>
      </p:sp>
      <p:pic>
        <p:nvPicPr>
          <p:cNvPr id="4" name="Image 0" descr="images/page6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671478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5878" y="1600200"/>
            <a:ext cx="5054434" cy="1143000"/>
          </a:xfrm>
          <a:prstGeom prst="roundRect">
            <a:avLst>
              <a:gd name="adj" fmla="val 64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768758" y="1691640"/>
            <a:ext cx="46886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Admisión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768758" y="2011680"/>
            <a:ext cx="46886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aislados en SQL legacy, sin transferencia automática a cajas.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5878" y="2926080"/>
            <a:ext cx="5054434" cy="1143000"/>
          </a:xfrm>
          <a:prstGeom prst="roundRect">
            <a:avLst>
              <a:gd name="adj" fmla="val 64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768758" y="3017520"/>
            <a:ext cx="46886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Facturación y Cajas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68758" y="3337560"/>
            <a:ext cx="46886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digitación eleva la atención de 5 a 15 min por paciente.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5878" y="4251960"/>
            <a:ext cx="5054434" cy="1143000"/>
          </a:xfrm>
          <a:prstGeom prst="roundRect">
            <a:avLst>
              <a:gd name="adj" fmla="val 64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768758" y="4343400"/>
            <a:ext cx="46886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Cuentas por Cobrar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768758" y="4663440"/>
            <a:ext cx="46886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Conciliación manual con aseguradoras; se pierde la trazabilidad.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 |  Diagnóstico Organizacional  |  UPEU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Stakeholders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proactiva de la resistencia al cambio y las expectativas del proyecto</a:t>
            </a:r>
            <a:endParaRPr lang="en-US" sz="1400" dirty="0"/>
          </a:p>
        </p:txBody>
      </p:sp>
      <p:pic>
        <p:nvPicPr>
          <p:cNvPr id="4" name="Image 0" descr="images/page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4398604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95884" y="1554480"/>
            <a:ext cx="164592" cy="164592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6" name="Text 3"/>
          <p:cNvSpPr/>
          <p:nvPr/>
        </p:nvSpPr>
        <p:spPr>
          <a:xfrm>
            <a:off x="5815924" y="1463040"/>
            <a:ext cx="58243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Players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General y Jefe de Finanzas — poder y interés altos; participación en comité ejecutivo mensual.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95884" y="2606040"/>
            <a:ext cx="164592" cy="164592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8" name="Text 5"/>
          <p:cNvSpPr/>
          <p:nvPr/>
        </p:nvSpPr>
        <p:spPr>
          <a:xfrm>
            <a:off x="5815924" y="2514600"/>
            <a:ext cx="58243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cerca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General — validación regulatoria contable ante SUNAT, quincenal.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95884" y="3657600"/>
            <a:ext cx="164592" cy="164592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10" name="Text 7"/>
          <p:cNvSpPr/>
          <p:nvPr/>
        </p:nvSpPr>
        <p:spPr>
          <a:xfrm>
            <a:off x="5815924" y="3566160"/>
            <a:ext cx="58243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informados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Cajeros líderes y Jefe de Logística — capacitación y soporte en sitio.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95884" y="4709160"/>
            <a:ext cx="164592" cy="164592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12" name="Text 9"/>
          <p:cNvSpPr/>
          <p:nvPr/>
        </p:nvSpPr>
        <p:spPr>
          <a:xfrm>
            <a:off x="5815924" y="4617720"/>
            <a:ext cx="58243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satisfechos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SUNAT / SUSALUD — cumplimiento normativo garantizado por hito.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 |  Diagnóstico Organizacional  |  UPEU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Estratégicos Corporativos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2026 – 2028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4297680"/>
          </a:xfrm>
          <a:prstGeom prst="roundRect">
            <a:avLst>
              <a:gd name="adj" fmla="val 3448"/>
            </a:avLst>
          </a:prstGeom>
          <a:solidFill>
            <a:srgbClr val="123C6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737360"/>
            <a:ext cx="822960" cy="82296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0" descr="icons/money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19019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43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3200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Eficiencia de Costos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en 15% los costos operativos de administración general automatizando procesos financieros.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56432" y="1463040"/>
            <a:ext cx="2651760" cy="4297680"/>
          </a:xfrm>
          <a:prstGeom prst="roundRect">
            <a:avLst>
              <a:gd name="adj" fmla="val 3448"/>
            </a:avLst>
          </a:prstGeom>
          <a:solidFill>
            <a:srgbClr val="3E7C8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0832" y="1737360"/>
            <a:ext cx="822960" cy="82296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2" name="Image 1" descr="icons/userm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190195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2743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639312" y="3200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Experiencia del Paciente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85032" y="397764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Incrementar en 25% la satisfacción, bajando el tiempo de espera en cajas de 15 a menos de 5 minutos.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364224" y="1463040"/>
            <a:ext cx="2651760" cy="4297680"/>
          </a:xfrm>
          <a:prstGeom prst="roundRect">
            <a:avLst>
              <a:gd name="adj" fmla="val 3448"/>
            </a:avLst>
          </a:prstGeom>
          <a:solidFill>
            <a:srgbClr val="B3541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78624" y="1737360"/>
            <a:ext cx="822960" cy="82296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8" name="Image 2" descr="icons/shiel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1901952"/>
            <a:ext cx="493776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47104" y="2743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6547104" y="3200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Cumplimiento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592824" y="397764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Garantizar 100% de trazabilidad de cambios financieros y encriptación según SUSALUD/SUNAT.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272016" y="1463040"/>
            <a:ext cx="2651760" cy="4297680"/>
          </a:xfrm>
          <a:prstGeom prst="roundRect">
            <a:avLst>
              <a:gd name="adj" fmla="val 3448"/>
            </a:avLst>
          </a:prstGeom>
          <a:solidFill>
            <a:srgbClr val="6B4C9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186416" y="1737360"/>
            <a:ext cx="822960" cy="82296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4" name="Image 3" descr="icons/chart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08" y="1901952"/>
            <a:ext cx="493776" cy="4937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54896" y="2743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9454896" y="3200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 Corporativo de Seguros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500616" y="397764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en 80% el cobro y conciliación de copagos con aseguradoras.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 |  Diagnóstico Organizacional  |  UPEU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FODA Cruzada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derivadas del cruce de factores internos y externos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18488"/>
            <a:ext cx="201168" cy="201168"/>
          </a:xfrm>
          <a:prstGeom prst="ellipse">
            <a:avLst/>
          </a:prstGeom>
          <a:solidFill>
            <a:srgbClr val="123C69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2704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 — Ofensivas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Aprovechar el prestigio y la infraestructura de TI para desplegar servicios en la nube.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la BD de citas con las APIs de facturación del PSE.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618488"/>
            <a:ext cx="201168" cy="201168"/>
          </a:xfrm>
          <a:prstGeom prst="ellipse">
            <a:avLst/>
          </a:prstGeom>
          <a:solidFill>
            <a:srgbClr val="3E7C8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52704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— Reorientación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201168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Finanzas-Clinic en Spring Boot para integrar cajas y automatizar el arqueo diario.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alertas web de vencimiento de convenios de seguros.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22192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023360"/>
            <a:ext cx="201168" cy="201168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9319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 — Defensivas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416552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Capacitar al personal para mitigar la resistencia al cambio.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Cifrar la base de datos local frente a ciberataques.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822192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4023360"/>
            <a:ext cx="201168" cy="201168"/>
          </a:xfrm>
          <a:prstGeom prst="ellipse">
            <a:avLst/>
          </a:prstGeom>
          <a:solidFill>
            <a:srgbClr val="B3541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39319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— Supervivencia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4416552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interceptor de auditoría para registrar cambios de forma inmutable.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 módulo contable lineal homologado a la SUNAT.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 |  Diagnóstico Organizacional  |  UPEU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PESTEL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Fuerzas externas que condicionan la estrategia de la clínica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23C6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cons/landmar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184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1488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Aseguramiento universal e interoperabilidad presionan la modernización.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79976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cons/char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164592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11496" y="16184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Económico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08576" y="21488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Inflación y competencia exigen optimizar procesos y márgenes.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11312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23C6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icons/user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164592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42832" y="16184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439912" y="21488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valoran transparencia y rapidez en la facturación.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840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icons/networ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2336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9959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Tecnológico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77240" y="452628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Angular, Spring Boot y Docker permiten desarrollo a bajo costo.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379976" y="3840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23C6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icons/leaf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402336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11496" y="39959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Ecológico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608576" y="452628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'cero papel' mediante boletas y cierres digitales.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211312" y="3840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icons/gavel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912" y="4023360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942832" y="39959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8439912" y="452628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SUNAT, SUSALUD y Ley N° 29733 tipifican multas ante fugas de datos.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 |  Diagnóstico Organizacional  |  UPEU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Digital: Sistemas Actuales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del ecosistema tecnológico de la clínica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4592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3C69"/>
            </a:solidFill>
            <a:prstDash val="solid"/>
          </a:ln>
        </p:spPr>
      </p:sp>
      <p:pic>
        <p:nvPicPr>
          <p:cNvPr id="6" name="Image 0" descr="icons/db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5564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2763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BD de Admisión Legacy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2008 local. Registra citas y procedimientos, sin interfaz web ni cobros.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0528" y="164592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3C69"/>
            </a:solidFill>
            <a:prstDash val="solid"/>
          </a:ln>
        </p:spPr>
      </p:sp>
      <p:pic>
        <p:nvPicPr>
          <p:cNvPr id="11" name="Image 1" descr="icons/excel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175564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62763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de Caja Chica/General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83680" y="233172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individual por cajero; se daña con frecuencia y no guarda historial seguro.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93192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3C69"/>
            </a:solidFill>
            <a:prstDash val="solid"/>
          </a:ln>
        </p:spPr>
      </p:sp>
      <p:pic>
        <p:nvPicPr>
          <p:cNvPr id="16" name="Image 2" descr="icons/boxe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04164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91363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Activos en Excel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61772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Depreciación mensual manual, sin integración con logística ni trazabilidad.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37490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0528" y="393192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3C69"/>
            </a:solidFill>
            <a:prstDash val="solid"/>
          </a:ln>
        </p:spPr>
      </p:sp>
      <p:pic>
        <p:nvPicPr>
          <p:cNvPr id="21" name="Image 3" descr="icons/networ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404164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91363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del Facturador (PSE)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83680" y="461772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cajeros reescriben manualmente los datos para emitir el comprobante SUNAT.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 |  Diagnóstico Organizacional  |  UPEU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Madurez Digital — COBIT 2019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objetivos evaluados se ubican en Nivel 1 (Inicial): procesos informales y reactivos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084832" cy="4206240"/>
          </a:xfrm>
          <a:prstGeom prst="roundRect">
            <a:avLst>
              <a:gd name="adj" fmla="val 4386"/>
            </a:avLst>
          </a:prstGeom>
          <a:solidFill>
            <a:srgbClr val="1B4A7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33856" y="1691640"/>
            <a:ext cx="914400" cy="914400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EDM02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Beneficios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17190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análisis de ROI/VAN; pérdidas recurrentes por descuadres.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98064" y="1417320"/>
            <a:ext cx="2084832" cy="4206240"/>
          </a:xfrm>
          <a:prstGeom prst="roundRect">
            <a:avLst>
              <a:gd name="adj" fmla="val 4386"/>
            </a:avLst>
          </a:prstGeom>
          <a:solidFill>
            <a:srgbClr val="1B4A7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691640"/>
            <a:ext cx="914400" cy="914400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935224" y="27889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35224" y="315468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la Estrategia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80944" y="3886200"/>
            <a:ext cx="17190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TI informal y reactivo, sin alineación con el negocio.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47488" y="1417320"/>
            <a:ext cx="2084832" cy="4206240"/>
          </a:xfrm>
          <a:prstGeom prst="roundRect">
            <a:avLst>
              <a:gd name="adj" fmla="val 4386"/>
            </a:avLst>
          </a:prstGeom>
          <a:solidFill>
            <a:srgbClr val="1B4A7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32704" y="1691640"/>
            <a:ext cx="914400" cy="914400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18" name="Text 16"/>
          <p:cNvSpPr/>
          <p:nvPr/>
        </p:nvSpPr>
        <p:spPr>
          <a:xfrm>
            <a:off x="5632704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184648" y="27889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BAI02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84648" y="315468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Requisitos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30368" y="3886200"/>
            <a:ext cx="17190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EDT ni historias de usuario estructuradas; retrabajos frecuentes.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96912" y="1417320"/>
            <a:ext cx="2084832" cy="4206240"/>
          </a:xfrm>
          <a:prstGeom prst="roundRect">
            <a:avLst>
              <a:gd name="adj" fmla="val 4386"/>
            </a:avLst>
          </a:prstGeom>
          <a:solidFill>
            <a:srgbClr val="1B4A7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82128" y="1691640"/>
            <a:ext cx="914400" cy="914400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24" name="Text 22"/>
          <p:cNvSpPr/>
          <p:nvPr/>
        </p:nvSpPr>
        <p:spPr>
          <a:xfrm>
            <a:off x="7882128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N1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434072" y="27889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DSS05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34072" y="315468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Seguridad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479792" y="3886200"/>
            <a:ext cx="17190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de red compartidas, sin JWT ni logs de auditoría.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46336" y="1417320"/>
            <a:ext cx="2084832" cy="4206240"/>
          </a:xfrm>
          <a:prstGeom prst="roundRect">
            <a:avLst>
              <a:gd name="adj" fmla="val 4386"/>
            </a:avLst>
          </a:prstGeom>
          <a:solidFill>
            <a:srgbClr val="1B4A7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31552" y="1691640"/>
            <a:ext cx="914400" cy="914400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30" name="Text 28"/>
          <p:cNvSpPr/>
          <p:nvPr/>
        </p:nvSpPr>
        <p:spPr>
          <a:xfrm>
            <a:off x="10131552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N1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683496" y="27889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MEA01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83496" y="315468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Rendimiento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729216" y="3886200"/>
            <a:ext cx="17190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existen KPIs técnicos; la operación avanza a ciegas.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 |  Diagnóstico Organizacional  |  UPEU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Brechas Tecnológicas Identificadas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entre la situación actual y el estándar de TI deseado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73936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3C69"/>
            </a:solidFill>
            <a:prstDash val="solid"/>
          </a:ln>
        </p:spPr>
      </p:sp>
      <p:pic>
        <p:nvPicPr>
          <p:cNvPr id="6" name="Image 0" descr="icons/networ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90195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544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Admisión–Cajas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394960" y="155448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APIs REST que eliminen la doble digitación manual.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962656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3C69"/>
            </a:solidFill>
            <a:prstDash val="solid"/>
          </a:ln>
        </p:spPr>
      </p:sp>
      <p:pic>
        <p:nvPicPr>
          <p:cNvPr id="11" name="Image 1" descr="icons/lo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09067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7432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Trazabilidad y Seguridad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394960" y="274320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logs de auditoría activa ni autenticación robusta con JWT.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151376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3C69"/>
            </a:solidFill>
            <a:prstDash val="solid"/>
          </a:ln>
        </p:spPr>
      </p:sp>
      <p:pic>
        <p:nvPicPr>
          <p:cNvPr id="16" name="Image 2" descr="icons/boxe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27939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9319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Logístico y Depreciación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394960" y="39319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módulo integrado de activos fijos con cálculo lineal SUNAT.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5340096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3C69"/>
            </a:solidFill>
            <a:prstDash val="solid"/>
          </a:ln>
        </p:spPr>
      </p:sp>
      <p:pic>
        <p:nvPicPr>
          <p:cNvPr id="21" name="Image 3" descr="icons/sync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546811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12064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Estabilidad y Mensajería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394960" y="512064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un bus de mensajería (Kafka) tolerante a fallas del PSE.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 |  Diagnóstico Organizacional  |  UPEU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Cuantificación de Ineficiencias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financiero anual estimado de la desintegración tecnológica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123C6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$8,200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año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51660" y="3063240"/>
            <a:ext cx="9144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004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Doble digitación en cajas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h diarias perdidas por cajero en transcripción y cuadres manuales (5 cajas).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50876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3E7C8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17830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$5,400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26280" y="2606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año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46420" y="3063240"/>
            <a:ext cx="9144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2004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Mermas contables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374904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Descuadres mensuales promedio de $500 por caja por errores humanos.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50876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B3541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21040" y="17830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$10,000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321040" y="2606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año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441180" y="3063240"/>
            <a:ext cx="9144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32004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Cuentas incobrables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374904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de copagos corporativos rechazadas o no cobradas a tiempo.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074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total estimado: </a:t>
            </a:r>
            <a:pPr algn="ctr" indent="0" marL="0">
              <a:buNone/>
            </a:pPr>
            <a:r>
              <a:rPr lang="en-US" sz="1600" b="1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$23,600 USD anuales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 |  Diagnóstico Organizacional  |  UPEU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Identificación del Problema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estructurada y análisis de causa raíz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23C6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cons/warn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6304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“Falta de integración, control y trazabilidad en la gestión financiera y administrativa, que genera ineficiencia operativa, riesgo de pérdidas económicas y demoras críticas en la atención al paciente.”</a:t>
            </a:r>
            <a:endParaRPr lang="en-US" sz="1300" dirty="0"/>
          </a:p>
        </p:txBody>
      </p:sp>
      <p:pic>
        <p:nvPicPr>
          <p:cNvPr id="7" name="Image 1" descr="images/page13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97480"/>
            <a:ext cx="4621876" cy="3749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44836" y="2697480"/>
            <a:ext cx="6195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Arqueos y cierres manuales; depreciación calculada en Excel.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44836" y="3520440"/>
            <a:ext cx="6195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 y cajas desconectadas; dependencia del PSE externo.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444836" y="4343400"/>
            <a:ext cx="6195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Control/Auditoría: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logs inmutables; autorizaciones en papel.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444836" y="5166360"/>
            <a:ext cx="6195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legacy SQL Server 2008 sin encriptación.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 |  Diagnóstico Organizacional  |  UPEU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los 5 Porqués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síntoma en caja hasta la causa raíz de gobernanza digital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89304" y="1554480"/>
            <a:ext cx="548640" cy="548640"/>
          </a:xfrm>
          <a:prstGeom prst="ellipse">
            <a:avLst/>
          </a:prstGeom>
          <a:solidFill>
            <a:srgbClr val="123C69"/>
          </a:solidFill>
          <a:ln/>
        </p:spPr>
      </p:sp>
      <p:sp>
        <p:nvSpPr>
          <p:cNvPr id="5" name="Text 3"/>
          <p:cNvSpPr/>
          <p:nvPr/>
        </p:nvSpPr>
        <p:spPr>
          <a:xfrm>
            <a:off x="128930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029968" cy="3200400"/>
          </a:xfrm>
          <a:prstGeom prst="roundRect">
            <a:avLst>
              <a:gd name="adj" fmla="val 360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468880"/>
            <a:ext cx="17556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generan descuadres y pérdidas en cajas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96896" y="1828800"/>
            <a:ext cx="192024" cy="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3547872" y="1554480"/>
            <a:ext cx="548640" cy="548640"/>
          </a:xfrm>
          <a:prstGeom prst="ellipse">
            <a:avLst/>
          </a:prstGeom>
          <a:solidFill>
            <a:srgbClr val="123C69"/>
          </a:solidFill>
          <a:ln/>
        </p:spPr>
      </p:sp>
      <p:sp>
        <p:nvSpPr>
          <p:cNvPr id="10" name="Text 8"/>
          <p:cNvSpPr/>
          <p:nvPr/>
        </p:nvSpPr>
        <p:spPr>
          <a:xfrm>
            <a:off x="354787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07208" y="2331720"/>
            <a:ext cx="2029968" cy="3200400"/>
          </a:xfrm>
          <a:prstGeom prst="roundRect">
            <a:avLst>
              <a:gd name="adj" fmla="val 360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44368" y="2468880"/>
            <a:ext cx="17556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cajeros cometen errores de transcripción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55464" y="1828800"/>
            <a:ext cx="192024" cy="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806440" y="1554480"/>
            <a:ext cx="548640" cy="548640"/>
          </a:xfrm>
          <a:prstGeom prst="ellipse">
            <a:avLst/>
          </a:prstGeom>
          <a:solidFill>
            <a:srgbClr val="123C69"/>
          </a:solidFill>
          <a:ln/>
        </p:spPr>
      </p:sp>
      <p:sp>
        <p:nvSpPr>
          <p:cNvPr id="15" name="Text 13"/>
          <p:cNvSpPr/>
          <p:nvPr/>
        </p:nvSpPr>
        <p:spPr>
          <a:xfrm>
            <a:off x="58064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65776" y="2331720"/>
            <a:ext cx="2029968" cy="3200400"/>
          </a:xfrm>
          <a:prstGeom prst="roundRect">
            <a:avLst>
              <a:gd name="adj" fmla="val 360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02936" y="2468880"/>
            <a:ext cx="17556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Deben digitar manualmente desde admisión al Excel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14032" y="1828800"/>
            <a:ext cx="192024" cy="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8065008" y="1554480"/>
            <a:ext cx="548640" cy="548640"/>
          </a:xfrm>
          <a:prstGeom prst="ellipse">
            <a:avLst/>
          </a:prstGeom>
          <a:solidFill>
            <a:srgbClr val="123C69"/>
          </a:solidFill>
          <a:ln/>
        </p:spPr>
      </p:sp>
      <p:sp>
        <p:nvSpPr>
          <p:cNvPr id="20" name="Text 18"/>
          <p:cNvSpPr/>
          <p:nvPr/>
        </p:nvSpPr>
        <p:spPr>
          <a:xfrm>
            <a:off x="806500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324344" y="2331720"/>
            <a:ext cx="2029968" cy="3200400"/>
          </a:xfrm>
          <a:prstGeom prst="roundRect">
            <a:avLst>
              <a:gd name="adj" fmla="val 360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61504" y="2468880"/>
            <a:ext cx="17556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 y facturación están desintegradas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72600" y="1828800"/>
            <a:ext cx="192024" cy="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0323576" y="1554480"/>
            <a:ext cx="548640" cy="548640"/>
          </a:xfrm>
          <a:prstGeom prst="ellipse">
            <a:avLst/>
          </a:prstGeom>
          <a:solidFill>
            <a:srgbClr val="B3541E"/>
          </a:solidFill>
          <a:ln/>
        </p:spPr>
      </p:sp>
      <p:sp>
        <p:nvSpPr>
          <p:cNvPr id="25" name="Text 23"/>
          <p:cNvSpPr/>
          <p:nvPr/>
        </p:nvSpPr>
        <p:spPr>
          <a:xfrm>
            <a:off x="1032357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582912" y="2331720"/>
            <a:ext cx="2029968" cy="3200400"/>
          </a:xfrm>
          <a:prstGeom prst="roundRect">
            <a:avLst>
              <a:gd name="adj" fmla="val 3604"/>
            </a:avLst>
          </a:prstGeom>
          <a:solidFill>
            <a:srgbClr val="B3541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720072" y="2468880"/>
            <a:ext cx="17556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arquitectura de BD integrada ni APIs REST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raíz:  </a:t>
            </a:r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organización opera en Nivel de Madurez Digital 1 (Inicial), sin un plan estratégico de TI que justifique una plataforma financiera unificada.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 |  Diagnóstico Organizacional  |  UPEU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Alineamiento Estratégico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negocio vinculados a los módulos de Finanzas-Clinic</a:t>
            </a:r>
            <a:endParaRPr lang="en-US" sz="1400" dirty="0"/>
          </a:p>
        </p:txBody>
      </p:sp>
      <p:pic>
        <p:nvPicPr>
          <p:cNvPr id="4" name="Image 0" descr="images/page14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463199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92110" y="1508760"/>
            <a:ext cx="6048202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74990" y="1828800"/>
            <a:ext cx="594360" cy="594360"/>
          </a:xfrm>
          <a:prstGeom prst="ellipse">
            <a:avLst/>
          </a:prstGeom>
          <a:solidFill>
            <a:srgbClr val="123C69"/>
          </a:solidFill>
          <a:ln/>
        </p:spPr>
      </p:sp>
      <p:sp>
        <p:nvSpPr>
          <p:cNvPr id="7" name="Text 4"/>
          <p:cNvSpPr/>
          <p:nvPr/>
        </p:nvSpPr>
        <p:spPr>
          <a:xfrm>
            <a:off x="577499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52230" y="1618488"/>
            <a:ext cx="49052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de Cajas y Activos Fijos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52230" y="2103120"/>
            <a:ext cx="49052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Cuadre diario de caja en minutos.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592110" y="2926080"/>
            <a:ext cx="6048202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74990" y="3246120"/>
            <a:ext cx="594360" cy="594360"/>
          </a:xfrm>
          <a:prstGeom prst="ellipse">
            <a:avLst/>
          </a:prstGeom>
          <a:solidFill>
            <a:srgbClr val="123C69"/>
          </a:solidFill>
          <a:ln/>
        </p:spPr>
      </p:sp>
      <p:sp>
        <p:nvSpPr>
          <p:cNvPr id="12" name="Text 9"/>
          <p:cNvSpPr/>
          <p:nvPr/>
        </p:nvSpPr>
        <p:spPr>
          <a:xfrm>
            <a:off x="5774990" y="3246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52230" y="3035808"/>
            <a:ext cx="49052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Aprobaciones y notificaciones Kafka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52230" y="3520440"/>
            <a:ext cx="49052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Tiempo de espera en ventanilla.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592110" y="4343400"/>
            <a:ext cx="6048202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74990" y="4663440"/>
            <a:ext cx="594360" cy="594360"/>
          </a:xfrm>
          <a:prstGeom prst="ellipse">
            <a:avLst/>
          </a:prstGeom>
          <a:solidFill>
            <a:srgbClr val="123C69"/>
          </a:solidFill>
          <a:ln/>
        </p:spPr>
      </p:sp>
      <p:sp>
        <p:nvSpPr>
          <p:cNvPr id="17" name="Text 14"/>
          <p:cNvSpPr/>
          <p:nvPr/>
        </p:nvSpPr>
        <p:spPr>
          <a:xfrm>
            <a:off x="5774990" y="4663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552230" y="4453128"/>
            <a:ext cx="49052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 Activa y seguridad JWT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552230" y="4937760"/>
            <a:ext cx="49052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100% de operaciones auditadas.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 |  Diagnóstico Organizacional  |  UPEU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3E7C8C">
              <a:alpha val="15000"/>
            </a:srgbClr>
          </a:solidFill>
          <a:ln/>
        </p:spPr>
      </p:sp>
      <p:pic>
        <p:nvPicPr>
          <p:cNvPr id="3" name="Image 0" descr="icons/bulb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Recomendaciones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472184"/>
            <a:ext cx="201168" cy="201168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13716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 confirma un Nivel de Madurez Digital 1 (Inicial) en los cinco dominios evaluados de COBIT 2019.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295144"/>
            <a:ext cx="201168" cy="201168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21945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desintegración entre admisión, cajas y contabilidad genera pérdidas estimadas en ≈ $23,600 USD anuales.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118104"/>
            <a:ext cx="201168" cy="201168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0175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Ishikawa y los 5 Porqués sitúan la causa raíz en la ausencia de una arquitectura de BD integrada y APIs REST.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3941064"/>
            <a:ext cx="201168" cy="201168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38404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recomienda implementar 'Finanzas-Clinic' con módulos de Cajas, Activos Fijos, Auditoría Activa y mensajería Kafka.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" y="4764024"/>
            <a:ext cx="201168" cy="201168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46634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alineamiento estratégico garantiza que la inversión tecnológica responda directamente a los objetivos institucionales OE1–OE4.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Peruana Unión  ·  Escuela Profesional de Ingeniería de Sistemas  · 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Finanzas-Clinic: Diagnóstico Organizacional y Alineamiento Estratégico</dc:title>
  <dc:subject>PptxGenJS Presentation</dc:subject>
  <dc:creator>UPEU - Ingeniería de Sistemas</dc:creator>
  <cp:lastModifiedBy>UPEU - Ingeniería de Sistemas</cp:lastModifiedBy>
  <cp:revision>1</cp:revision>
  <dcterms:created xsi:type="dcterms:W3CDTF">2026-07-07T04:20:00Z</dcterms:created>
  <dcterms:modified xsi:type="dcterms:W3CDTF">2026-07-07T04:20:00Z</dcterms:modified>
</cp:coreProperties>
</file>