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2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4.xml" ContentType="application/vnd.openxmlformats-officedocument.drawingml.chart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10"/>
  </p:normalViewPr>
  <p:slideViewPr>
    <p:cSldViewPr snapToGrid="0" snapToObjects="1">
      <p:cViewPr>
        <p:scale>
          <a:sx n="80" d="100"/>
          <a:sy n="80" d="100"/>
        </p:scale>
        <p:origin x="105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Alt. A (ERP Comercial)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TCO 25%</c:v>
                </c:pt>
                <c:pt idx="1">
                  <c:v>Adapt. 20%</c:v>
                </c:pt>
                <c:pt idx="2">
                  <c:v>Seguridad 20%</c:v>
                </c:pt>
                <c:pt idx="3">
                  <c:v>Escalab. 15%</c:v>
                </c:pt>
                <c:pt idx="4">
                  <c:v>Time-to-Market 20%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10-443B-A083-8D554609CE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Alt. B (Macros/Legacy)</c:v>
                </c:pt>
              </c:strCache>
            </c:strRef>
          </c:tx>
          <c:spPr>
            <a:solidFill>
              <a:srgbClr val="5B748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TCO 25%</c:v>
                </c:pt>
                <c:pt idx="1">
                  <c:v>Adapt. 20%</c:v>
                </c:pt>
                <c:pt idx="2">
                  <c:v>Seguridad 20%</c:v>
                </c:pt>
                <c:pt idx="3">
                  <c:v>Escalab. 15%</c:v>
                </c:pt>
                <c:pt idx="4">
                  <c:v>Time-to-Market 20%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10-443B-A083-8D554609CE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Alt. C (Finanzas-Clinic)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TCO 25%</c:v>
                </c:pt>
                <c:pt idx="1">
                  <c:v>Adapt. 20%</c:v>
                </c:pt>
                <c:pt idx="2">
                  <c:v>Seguridad 20%</c:v>
                </c:pt>
                <c:pt idx="3">
                  <c:v>Escalab. 15%</c:v>
                </c:pt>
                <c:pt idx="4">
                  <c:v>Time-to-Market 20%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10-443B-A083-8D554609C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5F-4B77-AF6E-A89477C5E823}"/>
              </c:ext>
            </c:extLst>
          </c:dPt>
          <c:dPt>
            <c:idx val="1"/>
            <c:bubble3D val="0"/>
            <c:spPr>
              <a:solidFill>
                <a:srgbClr val="1279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5F-4B77-AF6E-A89477C5E823}"/>
              </c:ext>
            </c:extLst>
          </c:dPt>
          <c:dPt>
            <c:idx val="2"/>
            <c:bubble3D val="0"/>
            <c:spPr>
              <a:solidFill>
                <a:srgbClr val="5EB1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5F-4B77-AF6E-A89477C5E823}"/>
              </c:ext>
            </c:extLst>
          </c:dPt>
          <c:dPt>
            <c:idx val="3"/>
            <c:bubble3D val="0"/>
            <c:spPr>
              <a:solidFill>
                <a:srgbClr val="E097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5F-4B77-AF6E-A89477C5E823}"/>
              </c:ext>
            </c:extLst>
          </c:dPt>
          <c:dPt>
            <c:idx val="4"/>
            <c:bubble3D val="0"/>
            <c:spPr>
              <a:solidFill>
                <a:srgbClr val="5B74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5F-4B77-AF6E-A89477C5E823}"/>
              </c:ext>
            </c:extLst>
          </c:dPt>
          <c:dPt>
            <c:idx val="5"/>
            <c:bubble3D val="0"/>
            <c:spPr>
              <a:solidFill>
                <a:srgbClr val="9FBF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85F-4B77-AF6E-A89477C5E82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5F-4B77-AF6E-A89477C5E82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5F-4B77-AF6E-A89477C5E82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5F-4B77-AF6E-A89477C5E82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5F-4B77-AF6E-A89477C5E82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85F-4B77-AF6E-A89477C5E82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P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85F-4B77-AF6E-A89477C5E82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P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Servicios TI / Arquitecto</c:v>
                </c:pt>
                <c:pt idx="1">
                  <c:v>Backend Java</c:v>
                </c:pt>
                <c:pt idx="2">
                  <c:v>Frontend Angular</c:v>
                </c:pt>
                <c:pt idx="3">
                  <c:v>QA</c:v>
                </c:pt>
                <c:pt idx="4">
                  <c:v>Infraestructura Dev.</c:v>
                </c:pt>
                <c:pt idx="5">
                  <c:v>Licencia PSE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4000</c:v>
                </c:pt>
                <c:pt idx="1">
                  <c:v>6000</c:v>
                </c:pt>
                <c:pt idx="2">
                  <c:v>5000</c:v>
                </c:pt>
                <c:pt idx="3">
                  <c:v>2500</c:v>
                </c:pt>
                <c:pt idx="4">
                  <c:v>500</c:v>
                </c:pt>
                <c:pt idx="5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85F-4B77-AF6E-A89477C5E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(USD)</c:v>
                </c:pt>
              </c:strCache>
            </c:strRef>
          </c:tx>
          <c:spPr>
            <a:solidFill>
              <a:srgbClr val="1279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33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1.0 Gestión Proy.</c:v>
                </c:pt>
                <c:pt idx="1">
                  <c:v>2.0 Análisis/Diseño</c:v>
                </c:pt>
                <c:pt idx="2">
                  <c:v>3.0 Desarrollo SW</c:v>
                </c:pt>
                <c:pt idx="3">
                  <c:v>4.0 Seguridad/Aud.</c:v>
                </c:pt>
                <c:pt idx="4">
                  <c:v>5.0 Pruebas/Deploy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</c:v>
                </c:pt>
                <c:pt idx="1">
                  <c:v>3000</c:v>
                </c:pt>
                <c:pt idx="2">
                  <c:v>11000</c:v>
                </c:pt>
                <c:pt idx="3">
                  <c:v>1500</c:v>
                </c:pt>
                <c:pt idx="4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7-4707-9CC3-881650E5D9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AS-IS (minutos, escala log)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Cajas y Arqueo</c:v>
                </c:pt>
                <c:pt idx="1">
                  <c:v>Depreciación (días→min)</c:v>
                </c:pt>
                <c:pt idx="2">
                  <c:v>Convenios (días→min)</c:v>
                </c:pt>
                <c:pt idx="3">
                  <c:v>Aprobación descuentos (h→min)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4320</c:v>
                </c:pt>
                <c:pt idx="2">
                  <c:v>4320</c:v>
                </c:pt>
                <c:pt idx="3">
                  <c:v>1440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5C-462E-8794-2AF9B0D8AD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TO-BE (minutos)</c:v>
                </c:pt>
              </c:strCache>
            </c:strRef>
          </c:tx>
          <c:spPr>
            <a:solidFill>
              <a:srgbClr val="1E8A6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Cajas y Arqueo</c:v>
                </c:pt>
                <c:pt idx="1">
                  <c:v>Depreciación (días→min)</c:v>
                </c:pt>
                <c:pt idx="2">
                  <c:v>Convenios (días→min)</c:v>
                </c:pt>
                <c:pt idx="3">
                  <c:v>Aprobación descuentos (h→min)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0.08</c:v>
                </c:pt>
                <c:pt idx="2">
                  <c:v>5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5C-462E-8794-2AF9B0D8A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26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5.png"/><Relationship Id="rId4" Type="http://schemas.openxmlformats.org/officeDocument/2006/relationships/image" Target="../media/image6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029200" cy="5029200"/>
          </a:xfrm>
          <a:prstGeom prst="ellipse">
            <a:avLst/>
          </a:prstGeom>
          <a:solidFill>
            <a:srgbClr val="12798A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926080"/>
            <a:ext cx="3840480" cy="3840480"/>
          </a:xfrm>
          <a:prstGeom prst="ellipse">
            <a:avLst/>
          </a:prstGeom>
          <a:solidFill>
            <a:srgbClr val="E0972D">
              <a:alpha val="2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 ·  FACULTAD DE INGENIERÍA Y ARQUITECTURA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344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Profesional de Ingeniería de Sistemas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9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GESTIÓN INTEGRAL DE TECNOLOGÍAS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9F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INFORMACIÓN PARA TRANSFORMACIÓN ORGANIZACIONAL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Finanzas-Clinic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9436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Financiera y Administrativa  ·  Caso de Estudio: Clínica Médica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4360" y="3794760"/>
            <a:ext cx="7955280" cy="0"/>
          </a:xfrm>
          <a:prstGeom prst="line">
            <a:avLst/>
          </a:prstGeom>
          <a:noFill/>
          <a:ln w="12700">
            <a:solidFill>
              <a:srgbClr val="1279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1–4:  </a:t>
            </a:r>
            <a:r>
              <a:rPr lang="en-US" sz="125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Organizacional  ·  Business Case  ·  Plan de Gestión (PMBOK/Agile)  ·  Modelado de Procesos AS-IS/TO-BE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4360" y="4434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  ·  Flores Llanque Mery Elizabeth  ·  Huahuaccapa Ccama Jaqueline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47091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Juliaca, Perú  ·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EXPOSICIÓN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Agenda: 4 entregables, un solo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1691640"/>
            <a:ext cx="640080" cy="64008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18379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Organizacional 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Alineamiento Estratégico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FODA, PESTEL, madurez digital y causa raíz del problema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14173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3260" y="1691640"/>
            <a:ext cx="640080" cy="64008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564" y="18379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67004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del Proyecto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97480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Alternativas, VAN, TIR, PRI, B/C y presupuesto CAPEX/OPEX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4173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26380" y="1691640"/>
            <a:ext cx="640080" cy="64008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183794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6344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477316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Gestión del Proyecto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(PMBOK / Agile)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800600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EDT, cronograma, EVM, riesgos, Scrum y backlog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66560" y="14173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29500" y="1691640"/>
            <a:ext cx="640080" cy="64008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804" y="183794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6656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876288" y="2834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Procesos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/ TO-BE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903720" y="356616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BPMN de cajas, activos y convenios, con ahorro cuantificado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Clínica Médica Unión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 del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Clínica Médica Unión opera con procesos financieros fragmentados en Excel y sistemas legacy desconectados. ‘Finanzas-Clinic’ es la plataforma web (Spring Boot + Angular + Kafka) que integra cajas, activos fijos y convenios, con retorno financiero probado.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627632" cy="1508760"/>
          </a:xfrm>
          <a:prstGeom prst="roundRect">
            <a:avLst>
              <a:gd name="adj" fmla="val 4242"/>
            </a:avLst>
          </a:prstGeom>
          <a:solidFill>
            <a:srgbClr val="0B3D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2860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679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$29,277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2920" y="31729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(USD)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39696" y="2148840"/>
            <a:ext cx="1627632" cy="1508760"/>
          </a:xfrm>
          <a:prstGeom prst="roundRect">
            <a:avLst>
              <a:gd name="adj" fmla="val 4242"/>
            </a:avLst>
          </a:prstGeom>
          <a:solidFill>
            <a:srgbClr val="0B3D5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22860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85416" y="2679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87.2%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185416" y="31729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22192" y="2148840"/>
            <a:ext cx="1627632" cy="1508760"/>
          </a:xfrm>
          <a:prstGeom prst="roundRect">
            <a:avLst>
              <a:gd name="adj" fmla="val 4242"/>
            </a:avLst>
          </a:prstGeom>
          <a:solidFill>
            <a:srgbClr val="0B3D5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28600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67912" y="2679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meses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867912" y="31729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Recupero (PRI)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504688" y="2148840"/>
            <a:ext cx="1627632" cy="1508760"/>
          </a:xfrm>
          <a:prstGeom prst="roundRect">
            <a:avLst>
              <a:gd name="adj" fmla="val 4242"/>
            </a:avLst>
          </a:prstGeom>
          <a:solidFill>
            <a:srgbClr val="0B3D5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28600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50408" y="2679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$23,600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550408" y="31729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anual (USD)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187184" y="2148840"/>
            <a:ext cx="1627632" cy="1508760"/>
          </a:xfrm>
          <a:prstGeom prst="roundRect">
            <a:avLst>
              <a:gd name="adj" fmla="val 4242"/>
            </a:avLst>
          </a:prstGeom>
          <a:solidFill>
            <a:srgbClr val="0B3D55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2286000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32904" y="26791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semanas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7232904" y="3172968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del proyecto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central:  </a:t>
            </a: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integración, control y trazabilidad en la gestión financiera y administrativa, que genera ineficiencia, riesgo de pérdidas y demoras en la atención al paciente.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Clínica Médica Unión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1279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108960" cy="3108960"/>
          </a:xfrm>
          <a:prstGeom prst="ellipse">
            <a:avLst/>
          </a:prstGeom>
          <a:solidFill>
            <a:srgbClr val="E0972D">
              <a:alpha val="2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Organizacional 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Alineamiento Estratégico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1  ·  Competencia CE011: Gestión e Innovación de TI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ANTECEDENTES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internacional y nacional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5F9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90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internacional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digitalización clínica es hoy un estándar operativo, no una ventaja competitiva. Chile, Colombia y México ya cuentan con interoperabilidad y expediente clínico digital.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971800"/>
            <a:ext cx="109728" cy="109728"/>
          </a:xfrm>
          <a:prstGeom prst="ellipse">
            <a:avLst/>
          </a:prstGeom>
          <a:solidFill>
            <a:srgbClr val="E0972D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880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-30% </a:t>
            </a: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costos operativos administrativos al integrar admisión y facturación.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menor tiempo de espera en ventanilla y mayor fidelización de pacientes.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23444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F5F9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4904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nacional (Perú)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46320" y="2057400"/>
            <a:ext cx="3611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SUSALUD </a:t>
            </a: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calidad y protección de datos de pacientes (Ley N° 29733).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la emisión electrónica síncrona de boletas y facturas.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medianas 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pueden pagar ERP internacionales (SAP/Oracle) y caen en hojas Excel descentralizadas, generando </a:t>
            </a:r>
            <a:r>
              <a:rPr lang="en-US" sz="1100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 de información</a:t>
            </a: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contabilidad, logística y cajas.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ORGANIZACIONAL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y roles clave de la clínica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49504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716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General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" y="1682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reportes financieros en tiempo real; depende de consolidados manuales que tardan días.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128016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417320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149504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3716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Admin. y Finanzas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74720" y="1682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Mermas no identificadas en cajas y retraso en cobro de copagos corporativos.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128016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355080" y="1417320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149504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3716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de Contabilidad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355080" y="1682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de activos fijos calculada en Excel, propensa a errores.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57200" y="246888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/>
        </p:spPr>
      </p:sp>
      <p:sp>
        <p:nvSpPr>
          <p:cNvPr id="20" name="Shape 15"/>
          <p:cNvSpPr/>
          <p:nvPr/>
        </p:nvSpPr>
        <p:spPr>
          <a:xfrm>
            <a:off x="594360" y="2606040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2683764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2560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de Admisión y Cajas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9436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recurrentes de hasta 15% por transcripción manual al PSE.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337560" y="246888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/>
        </p:spPr>
      </p:sp>
      <p:sp>
        <p:nvSpPr>
          <p:cNvPr id="25" name="Shape 19"/>
          <p:cNvSpPr/>
          <p:nvPr/>
        </p:nvSpPr>
        <p:spPr>
          <a:xfrm>
            <a:off x="3474720" y="2606040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444" y="2683764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2560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de Logística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47472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códigos de barras; descontrol en ubicación física de equipos médicos.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217920" y="246888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5F9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355080" y="2606040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2683764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25603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TI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5508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locales sin logs de auditoría activa de transacciones.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COMPETITIVO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Fuerzas de Porter aplicadas a la clínica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1821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Fuerza competitiva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Intensidad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 de TI propuesta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Rivalidad entre competidores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Desarrollar Finanzas-Clinic para agilizar copagos y mejorar competitividad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de los pacientes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9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Media-Alta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Angular rápida y reactiva integrada a la admisión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de los proveedores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09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activos e inventarios que optimiza cuentas por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 de nuevos entrantes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Baja-Media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Consolidar barreras de entrada con tecnología propietaria eficiente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 de sustitutos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Mantener calidad médica y administrativa diferenciada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VALOR DE PORTER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Ineficiencias en cada eslabón operativo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" y="1554480"/>
            <a:ext cx="512064" cy="512064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733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Tecnología (Soporte)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288036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técnicos dedicados a parchar Excel dañados en vez de innovar en servicios médicos.</a:t>
            </a:r>
            <a:endParaRPr lang="en-US" sz="930" dirty="0"/>
          </a:p>
        </p:txBody>
      </p:sp>
      <p:sp>
        <p:nvSpPr>
          <p:cNvPr id="9" name="Text 6"/>
          <p:cNvSpPr/>
          <p:nvPr/>
        </p:nvSpPr>
        <p:spPr>
          <a:xfrm>
            <a:off x="2340864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3264408" y="1554480"/>
            <a:ext cx="512064" cy="512064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6733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(Primaria)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70048" y="288036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queda aislado en la BD SQL legacy, sin transferencia automática a cajas.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4443984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663440" y="137160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5367528" y="1554480"/>
            <a:ext cx="512064" cy="512064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6733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y Cajas (Primaria)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773168" y="288036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cajero re-digita todo en el portal PSE: atención de 5 a 15 min por paciente.</a:t>
            </a:r>
            <a:endParaRPr lang="en-US" sz="930" dirty="0"/>
          </a:p>
        </p:txBody>
      </p:sp>
      <p:sp>
        <p:nvSpPr>
          <p:cNvPr id="21" name="Text 16"/>
          <p:cNvSpPr/>
          <p:nvPr/>
        </p:nvSpPr>
        <p:spPr>
          <a:xfrm>
            <a:off x="6547104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766560" y="1371600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F5F9FA"/>
          </a:solidFill>
          <a:ln/>
        </p:spPr>
      </p:sp>
      <p:sp>
        <p:nvSpPr>
          <p:cNvPr id="23" name="Shape 18"/>
          <p:cNvSpPr/>
          <p:nvPr/>
        </p:nvSpPr>
        <p:spPr>
          <a:xfrm>
            <a:off x="7470648" y="1554480"/>
            <a:ext cx="512064" cy="512064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6733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por Cobrar (Primaria)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876288" y="2880360"/>
            <a:ext cx="1700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manual con aseguradoras; se pierde trazabilidad de copagos y vencidas.</a:t>
            </a:r>
            <a:endParaRPr lang="en-US" sz="930" dirty="0"/>
          </a:p>
        </p:txBody>
      </p:sp>
      <p:sp>
        <p:nvSpPr>
          <p:cNvPr id="27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INTERESADOS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stakeholders clave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General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Reuniones de comité ejecutivo mensual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Finanzas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Involucramiento activo en diseño de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Logística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Mantener informado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 quincenales de validación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General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de cerca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regulatoria contable SUNAT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Cajeros Líderes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Mantener informado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Capacitaciones guiadas y soporte en sitio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SUNAT / SUSALUD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Garantizar cumplimiento en diseño de 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ESTRATÉGICO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corporativos 2026–2028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0B3D5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141732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121408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15% los costos operativos administrativos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2514600" y="128016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0B3D5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132" y="141732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624328" y="2121408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25% la satisfacción del paciente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4572000" y="128016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0B3D5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532" y="141732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81728" y="2121408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100% de trazabilidad y cumplimiento legal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629400" y="1280160"/>
            <a:ext cx="1965960" cy="1600200"/>
          </a:xfrm>
          <a:prstGeom prst="roundRect">
            <a:avLst>
              <a:gd name="adj" fmla="val 4000"/>
            </a:avLst>
          </a:prstGeom>
          <a:solidFill>
            <a:srgbClr val="0B3D55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932" y="141732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4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OE4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739128" y="2121408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80% el cobro de convenios corporativos</a:t>
            </a:r>
            <a:endParaRPr lang="en-US" sz="980" dirty="0"/>
          </a:p>
        </p:txBody>
      </p:sp>
      <p:sp>
        <p:nvSpPr>
          <p:cNvPr id="20" name="Text 1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FODA cruzada — estrategias derivadas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33832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E6F3EE"/>
          </a:solidFill>
          <a:ln/>
        </p:spPr>
      </p:sp>
      <p:sp>
        <p:nvSpPr>
          <p:cNvPr id="22" name="Text 16"/>
          <p:cNvSpPr/>
          <p:nvPr/>
        </p:nvSpPr>
        <p:spPr>
          <a:xfrm>
            <a:off x="548640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(Ofensivas)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8640" y="373075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infraestructura moderna (F1) para desplegar en la nube (O5) y facilitar convenios</a:t>
            </a:r>
            <a:endParaRPr lang="en-US" sz="920" dirty="0"/>
          </a:p>
        </p:txBody>
      </p:sp>
      <p:sp>
        <p:nvSpPr>
          <p:cNvPr id="24" name="Shape 18"/>
          <p:cNvSpPr/>
          <p:nvPr/>
        </p:nvSpPr>
        <p:spPr>
          <a:xfrm>
            <a:off x="2514600" y="33832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EEF4F6"/>
          </a:solidFill>
          <a:ln/>
        </p:spPr>
      </p:sp>
      <p:sp>
        <p:nvSpPr>
          <p:cNvPr id="25" name="Text 19"/>
          <p:cNvSpPr/>
          <p:nvPr/>
        </p:nvSpPr>
        <p:spPr>
          <a:xfrm>
            <a:off x="2606040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(Reorientación)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606040" y="373075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(O2) integra cajas (D1) y automatiza el arqueo diario (D2)</a:t>
            </a:r>
            <a:endParaRPr lang="en-US" sz="920" dirty="0"/>
          </a:p>
        </p:txBody>
      </p:sp>
      <p:sp>
        <p:nvSpPr>
          <p:cNvPr id="27" name="Shape 21"/>
          <p:cNvSpPr/>
          <p:nvPr/>
        </p:nvSpPr>
        <p:spPr>
          <a:xfrm>
            <a:off x="4572000" y="33832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6DDB2"/>
          </a:solidFill>
          <a:ln/>
        </p:spPr>
      </p:sp>
      <p:sp>
        <p:nvSpPr>
          <p:cNvPr id="28" name="Text 22"/>
          <p:cNvSpPr/>
          <p:nvPr/>
        </p:nvSpPr>
        <p:spPr>
          <a:xfrm>
            <a:off x="4663440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(Defensivas)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663440" y="373075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personal (F2) mitiga la resistencia al cambio (A4)</a:t>
            </a:r>
            <a:endParaRPr lang="en-US" sz="920" dirty="0"/>
          </a:p>
        </p:txBody>
      </p:sp>
      <p:sp>
        <p:nvSpPr>
          <p:cNvPr id="30" name="Shape 24"/>
          <p:cNvSpPr/>
          <p:nvPr/>
        </p:nvSpPr>
        <p:spPr>
          <a:xfrm>
            <a:off x="6629400" y="3383280"/>
            <a:ext cx="1965960" cy="1417320"/>
          </a:xfrm>
          <a:prstGeom prst="roundRect">
            <a:avLst>
              <a:gd name="adj" fmla="val 3871"/>
            </a:avLst>
          </a:prstGeom>
          <a:solidFill>
            <a:srgbClr val="FBEAEC"/>
          </a:solidFill>
          <a:ln/>
        </p:spPr>
      </p:sp>
      <p:sp>
        <p:nvSpPr>
          <p:cNvPr id="31" name="Text 25"/>
          <p:cNvSpPr/>
          <p:nvPr/>
        </p:nvSpPr>
        <p:spPr>
          <a:xfrm>
            <a:off x="6720840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(Supervivencia)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720840" y="3730752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AuditInterceptor (A2, D3) registra cambios de forma inmutable para SUSALUD</a:t>
            </a:r>
            <a:endParaRPr lang="en-US" sz="920" dirty="0"/>
          </a:p>
        </p:txBody>
      </p:sp>
      <p:sp>
        <p:nvSpPr>
          <p:cNvPr id="33" name="Text 2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MACROAMBIENTAL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PESTEL de negocios de salud en el Perú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44752"/>
            <a:ext cx="402336" cy="402336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5270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081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190195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universal e interoperabilidad de datos médicos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5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3410712" y="1444752"/>
            <a:ext cx="402336" cy="402336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5270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4081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10712" y="190195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Inflación exige optimizar procesos y cero pérdidas por arqueos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5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199632" y="1444752"/>
            <a:ext cx="402336" cy="402336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5270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4081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99632" y="190195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valora transparencia y rapidez en facturación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5F9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792" y="2999232"/>
            <a:ext cx="402336" cy="402336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0815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29626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1792" y="345643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Angular, Spring Boot y Docker reducen costo frente a un ERP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3246120" y="283464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5F9FA"/>
          </a:solidFill>
          <a:ln/>
        </p:spPr>
      </p:sp>
      <p:sp>
        <p:nvSpPr>
          <p:cNvPr id="25" name="Shape 19"/>
          <p:cNvSpPr/>
          <p:nvPr/>
        </p:nvSpPr>
        <p:spPr>
          <a:xfrm>
            <a:off x="3410712" y="2999232"/>
            <a:ext cx="402336" cy="402336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8152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29626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Ecológico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10712" y="345643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papel: boletas y reportes electrónicos digitalizados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6035040" y="283464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5F9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199632" y="2999232"/>
            <a:ext cx="402336" cy="402336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8152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296265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99632" y="3456432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SUNAT, SUSALUD y Ley N° 29733 exigen control y protección de datos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DIGITAL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Madurez COBIT 2019: Nivel 1 (Inicial)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3246120"/>
          </a:xfrm>
          <a:prstGeom prst="roundRect">
            <a:avLst>
              <a:gd name="adj" fmla="val 4000"/>
            </a:avLst>
          </a:prstGeom>
          <a:solidFill>
            <a:srgbClr val="0B3D5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 / Ad-hoc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reactivos, sin estandarización ni control formal de TI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6172200" cy="713232"/>
          </a:xfrm>
          <a:prstGeom prst="roundRect">
            <a:avLst>
              <a:gd name="adj" fmla="val 6410"/>
            </a:avLst>
          </a:prstGeom>
          <a:solidFill>
            <a:srgbClr val="F5F9FA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307592"/>
            <a:ext cx="868680" cy="566928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EDM02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2893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Beneficios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0" y="156362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análisis ROI/VAN de los sistemas Excel actuales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2514600" y="2057400"/>
            <a:ext cx="6172200" cy="713232"/>
          </a:xfrm>
          <a:prstGeom prst="roundRect">
            <a:avLst>
              <a:gd name="adj" fmla="val 6410"/>
            </a:avLst>
          </a:prstGeom>
          <a:solidFill>
            <a:srgbClr val="F5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130552"/>
            <a:ext cx="868680" cy="566928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1122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la Estrategia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0" y="238658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TI informal y reactivo ante incidentes de hardware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2514600" y="2880360"/>
            <a:ext cx="6172200" cy="713232"/>
          </a:xfrm>
          <a:prstGeom prst="roundRect">
            <a:avLst>
              <a:gd name="adj" fmla="val 6410"/>
            </a:avLst>
          </a:prstGeom>
          <a:solidFill>
            <a:srgbClr val="F5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953512"/>
            <a:ext cx="868680" cy="566928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9352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Requisitos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0" y="320954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diccionario EDT ni historias de usuario estructuradas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2514600" y="3703320"/>
            <a:ext cx="6172200" cy="713232"/>
          </a:xfrm>
          <a:prstGeom prst="roundRect">
            <a:avLst>
              <a:gd name="adj" fmla="val 6410"/>
            </a:avLst>
          </a:prstGeom>
          <a:solidFill>
            <a:srgbClr val="F5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3776472"/>
            <a:ext cx="868680" cy="566928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DSS05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75818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Seguridad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0" y="403250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de red compartidas, sin JWT ni logs de auditoría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FINANCIERO DEL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Cuantificación de ineficiencias actuales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AE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166420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194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$3,200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 en cajas / año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463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AE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1664208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194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$2,400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56616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Mermas por descuadres contables / año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14630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BEAE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052" y="166420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1945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$10,000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35508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incobrables de convenios / año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94360" y="37033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total estimada: </a:t>
            </a:r>
            <a:r>
              <a:rPr lang="en-US" sz="13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$15,600  anuales</a:t>
            </a:r>
            <a:r>
              <a:rPr lang="en-US" sz="13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descuadres, digitación redundante y facturas vencidas de seguros.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raíz: diagrama de Ishikawa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621792"/>
          </a:xfrm>
          <a:prstGeom prst="roundRect">
            <a:avLst>
              <a:gd name="adj" fmla="val 7353"/>
            </a:avLst>
          </a:prstGeom>
          <a:solidFill>
            <a:srgbClr val="0B3D5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“Falta de integración, control y trazabilidad en la gestión financiera y administrativa: ineficiencia operativa, riesgo de pérdidas y demoras en la atención”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965960" cy="2606040"/>
          </a:xfrm>
          <a:prstGeom prst="roundRect">
            <a:avLst>
              <a:gd name="adj" fmla="val 3256"/>
            </a:avLst>
          </a:prstGeom>
          <a:solidFill>
            <a:srgbClr val="F5F9FA"/>
          </a:solidFill>
          <a:ln/>
        </p:spPr>
      </p:sp>
      <p:sp>
        <p:nvSpPr>
          <p:cNvPr id="7" name="Shape 5"/>
          <p:cNvSpPr/>
          <p:nvPr/>
        </p:nvSpPr>
        <p:spPr>
          <a:xfrm>
            <a:off x="1202436" y="2221992"/>
            <a:ext cx="475488" cy="47548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233172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5216" y="315468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Arqueos y cierres manuales; cálculo de depreciación en Excel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514600" y="2057400"/>
            <a:ext cx="1965960" cy="2606040"/>
          </a:xfrm>
          <a:prstGeom prst="roundRect">
            <a:avLst>
              <a:gd name="adj" fmla="val 3256"/>
            </a:avLst>
          </a:prstGeom>
          <a:solidFill>
            <a:srgbClr val="F5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3259836" y="2221992"/>
            <a:ext cx="475488" cy="47548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9564" y="233172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42616" y="315468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cajas desconectadas; facturador PSE sin APIs síncronas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572000" y="2057400"/>
            <a:ext cx="1965960" cy="2606040"/>
          </a:xfrm>
          <a:prstGeom prst="roundRect">
            <a:avLst>
              <a:gd name="adj" fmla="val 3256"/>
            </a:avLst>
          </a:prstGeom>
          <a:solidFill>
            <a:srgbClr val="F5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5317236" y="2221992"/>
            <a:ext cx="475488" cy="47548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964" y="233172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Auditoría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700016" y="315468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logs inmutables; autorizaciones con firmas físicas en papel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629400" y="2057400"/>
            <a:ext cx="1965960" cy="2606040"/>
          </a:xfrm>
          <a:prstGeom prst="roundRect">
            <a:avLst>
              <a:gd name="adj" fmla="val 3256"/>
            </a:avLst>
          </a:prstGeom>
          <a:solidFill>
            <a:srgbClr val="F5F9FA"/>
          </a:solidFill>
          <a:ln/>
        </p:spPr>
      </p:sp>
      <p:sp>
        <p:nvSpPr>
          <p:cNvPr id="22" name="Shape 17"/>
          <p:cNvSpPr/>
          <p:nvPr/>
        </p:nvSpPr>
        <p:spPr>
          <a:xfrm>
            <a:off x="7374636" y="2221992"/>
            <a:ext cx="475488" cy="47548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364" y="233172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2788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757416" y="3154680"/>
            <a:ext cx="17099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2008 legacy; BD local sin encriptación JWT</a:t>
            </a:r>
            <a:endParaRPr lang="en-US" sz="980" dirty="0"/>
          </a:p>
        </p:txBody>
      </p:sp>
      <p:sp>
        <p:nvSpPr>
          <p:cNvPr id="26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CAUSA RAÍZ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los 5 Porqués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365760" cy="365760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7726680" cy="493776"/>
          </a:xfrm>
          <a:prstGeom prst="roundRect">
            <a:avLst>
              <a:gd name="adj" fmla="val 9259"/>
            </a:avLst>
          </a:prstGeom>
          <a:solidFill>
            <a:srgbClr val="F5F9F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234440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generan descuadres en cajas? → Errores en la transcripción de datos y montos.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365760" cy="365760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1856232"/>
            <a:ext cx="7726680" cy="493776"/>
          </a:xfrm>
          <a:prstGeom prst="roundRect">
            <a:avLst>
              <a:gd name="adj" fmla="val 9259"/>
            </a:avLst>
          </a:prstGeom>
          <a:solidFill>
            <a:srgbClr val="F5F9F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856232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cometen errores de transcripción? → Digitan manualmente desde historias clínicas al Excel.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2478024"/>
            <a:ext cx="7726680" cy="493776"/>
          </a:xfrm>
          <a:prstGeom prst="roundRect">
            <a:avLst>
              <a:gd name="adj" fmla="val 9259"/>
            </a:avLst>
          </a:prstGeom>
          <a:solidFill>
            <a:srgbClr val="F5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478024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digitan manualmente al Excel? → Admisión y cajas son sistemas desintegrados.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0120" y="3099816"/>
            <a:ext cx="7726680" cy="493776"/>
          </a:xfrm>
          <a:prstGeom prst="roundRect">
            <a:avLst>
              <a:gd name="adj" fmla="val 9259"/>
            </a:avLst>
          </a:prstGeom>
          <a:solidFill>
            <a:srgbClr val="F5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099816"/>
            <a:ext cx="7406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están desintegrados? → Se usan hojas Excel y software legacy sin BD integrada ni APIs REST.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365760" cy="365760"/>
          </a:xfrm>
          <a:prstGeom prst="ellipse">
            <a:avLst/>
          </a:prstGeom>
          <a:solidFill>
            <a:srgbClr val="E097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3721608"/>
            <a:ext cx="7726680" cy="566928"/>
          </a:xfrm>
          <a:prstGeom prst="roundRect">
            <a:avLst>
              <a:gd name="adj" fmla="val 8065"/>
            </a:avLst>
          </a:prstGeom>
          <a:solidFill>
            <a:srgbClr val="F6DDB2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372160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hay arquitectura integrada? (CAUSA RAÍZ) → Madurez Digital Nivel 1: no hay plan estratégico de TI que justifique la inversión.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alineamiento estratégico y conclusiones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3774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del negocio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Iniciativa de 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de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OE1. Reducir 15% costos operativos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Cajas interconectado a admisión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Cuadre de caja &lt; 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OE2. +25% satisfacción del paciente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 de descuentos vía Kafka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espera en ventanilla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OE3. Cero desviación de activos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Activos Fijos (cálculo SUNAT)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desviación de stock físico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OE4. 100% cumplimiento y seguridad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Activa + tokens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transacciones no auditadas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6F3E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136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377647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alineamiento estratégico demuestra que la inversión en Finanzas-Clinic responde directamente a los objetivos institucionales, habilitando el desarrollo del plan del proyecto.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Diagnóstico Organizacional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1279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108960" cy="3108960"/>
          </a:xfrm>
          <a:prstGeom prst="ellipse">
            <a:avLst/>
          </a:prstGeom>
          <a:solidFill>
            <a:srgbClr val="E0972D">
              <a:alpha val="2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del Proyecto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2  ·  Competencia CE012: Gestión de Proyectos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LA 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propio vs. compra de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1508760"/>
            <a:ext cx="548640" cy="548640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16367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transacción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digitación redundante entre admisión y cajas eleva el costo de facturación unitario y propicia pérdidas por mermas en arqueos.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38328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5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4411980" y="1508760"/>
            <a:ext cx="548640" cy="54864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16367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comercial (SAP y similares)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66160" y="28346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costo de licenciamiento por usuario y personalización compleja para integrarse con la admisión legacy.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17220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5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0900" y="1508760"/>
            <a:ext cx="548640" cy="548640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16367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 (elegido)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55080" y="283464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licencias recurrentes, propiedad intelectual completa e integración nativa de reglas de copago y SUNAT, con TCO competitivo.</a:t>
            </a:r>
            <a:endParaRPr lang="en-US" sz="1030" dirty="0"/>
          </a:p>
        </p:txBody>
      </p:sp>
      <p:sp>
        <p:nvSpPr>
          <p:cNvPr id="19" name="Text 1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Pérdidas del negocio y objetivos SMART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identificadas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91440" cy="9144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en arqueos: 15% de errores en cobros → $500 USD/mes por sucursal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21408"/>
            <a:ext cx="91440" cy="9144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075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manual sin inventario enlazado → multas regulatorias SUNAT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88336"/>
            <a:ext cx="91440" cy="9144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426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facturas de convenios no cobradas a tiempo → $10,000 USD/año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91440" cy="9144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2095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logs de auditoría → vulnerabilidad ante fraudes y control interno SUSALUD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SMART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329184" cy="329184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490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 Caja, Activos Fijos, Convenios y Auditoría con alertas Kafka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617720" y="1965960"/>
            <a:ext cx="329184" cy="329184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1947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 de 120 a &lt;15 min; 100% de operaciones auditadas; 80% de mora recuperada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617720" y="2423160"/>
            <a:ext cx="329184" cy="329184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47488" y="2404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interno de 3 especialistas + 1 QA con Spring Boot, Angular y Docker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329184" cy="329184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47488" y="28620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 con -15% costos operativos y +25% satisfacción del paciente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617720" y="3337560"/>
            <a:ext cx="329184" cy="329184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47488" y="3319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completo, del diagnóstico al Go-Live, en 16 semanas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ALTERNATIVAS TECNOLÓGICAS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opciones evaluadas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9FA"/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A: ERP Comercial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58952" y="2057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One o similar. Robusto pero rígido.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971800"/>
            <a:ext cx="2240280" cy="0"/>
          </a:xfrm>
          <a:prstGeom prst="line">
            <a:avLst/>
          </a:prstGeom>
          <a:noFill/>
          <a:ln w="12700">
            <a:solidFill>
              <a:srgbClr val="DD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0632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3273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$10,000 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370332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ponderada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391363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5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63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B: Macros Excel + Access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47872" y="2057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mínimo, pero inestable y sin logs de seguridad.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2971800"/>
            <a:ext cx="2240280" cy="0"/>
          </a:xfrm>
          <a:prstGeom prst="line">
            <a:avLst/>
          </a:prstGeom>
          <a:noFill/>
          <a:ln w="12700">
            <a:solidFill>
              <a:srgbClr val="DDE6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30632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47872" y="3273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mínimo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47872" y="370332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ponderada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47872" y="391363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2.95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72200" y="12801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0B3D55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63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C: Finanzas-Clinic (elegida)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36792" y="205740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Angular a medida, dockerizado con Kafka.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2971800"/>
            <a:ext cx="2240280" cy="0"/>
          </a:xfrm>
          <a:prstGeom prst="line">
            <a:avLst/>
          </a:prstGeom>
          <a:noFill/>
          <a:ln w="12700">
            <a:solidFill>
              <a:srgbClr val="2E5C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306324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36792" y="3273552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$5,000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36792" y="370332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ponderada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36792" y="391363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COMPARATIVA PONDERADA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evaluación (peso %) por alternativa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82296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  (A)   ·   2.95  (B)   ·   </a:t>
            </a:r>
            <a:r>
              <a:rPr lang="en-US" sz="1150" b="1" dirty="0">
                <a:solidFill>
                  <a:srgbClr val="1E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4.75  (C — elegida)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BENEFICIOS FINANCIEROS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cuantificables anuales (tangibles)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6F3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155448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84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$3,200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en arqueo de cajas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 → 15 min)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6F3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155448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084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$2,400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56616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descuadres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($500 → $50/mes)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1371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E6F3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052" y="155448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084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$10,000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355080" y="2651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copagos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corporativos vencidos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4360" y="3566160"/>
            <a:ext cx="7955280" cy="777240"/>
          </a:xfrm>
          <a:prstGeom prst="roundRect">
            <a:avLst>
              <a:gd name="adj" fmla="val 8235"/>
            </a:avLst>
          </a:prstGeom>
          <a:solidFill>
            <a:srgbClr val="0B3D55"/>
          </a:solidFill>
          <a:ln/>
        </p:spPr>
      </p:sp>
      <p:sp>
        <p:nvSpPr>
          <p:cNvPr id="17" name="Text 12"/>
          <p:cNvSpPr/>
          <p:nvPr/>
        </p:nvSpPr>
        <p:spPr>
          <a:xfrm>
            <a:off x="594360" y="35661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brutos anuales:  </a:t>
            </a:r>
            <a:r>
              <a:rPr lang="en-US" sz="22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$15,600 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FINANCIEROS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VAN, TIR, PRI y relación Beneficio/Costo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4813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$29,276.81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 — positivo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8521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2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el COK de 12% y genera beneficio neto adicional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2514600" y="128016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4813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87.2%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606040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— muy superior al COK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264261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2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margen de seguridad ante variaciones de OPEX</a:t>
            </a:r>
            <a:endParaRPr lang="en-US" sz="920" dirty="0"/>
          </a:p>
        </p:txBody>
      </p:sp>
      <p:sp>
        <p:nvSpPr>
          <p:cNvPr id="14" name="Shape 10"/>
          <p:cNvSpPr/>
          <p:nvPr/>
        </p:nvSpPr>
        <p:spPr>
          <a:xfrm>
            <a:off x="4572000" y="128016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14813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meses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4663440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— recupero total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470001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2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recuperada antes de finalizar el primer año</a:t>
            </a:r>
            <a:endParaRPr lang="en-US" sz="920" dirty="0"/>
          </a:p>
        </p:txBody>
      </p:sp>
      <p:sp>
        <p:nvSpPr>
          <p:cNvPr id="19" name="Shape 14"/>
          <p:cNvSpPr/>
          <p:nvPr/>
        </p:nvSpPr>
        <p:spPr>
          <a:xfrm>
            <a:off x="6629400" y="1280160"/>
            <a:ext cx="1965960" cy="3246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0" y="14813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75120" y="199339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6720840" y="254203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B/C — relación beneficio/costo</a:t>
            </a:r>
            <a:endParaRPr lang="en-US" sz="980" dirty="0"/>
          </a:p>
        </p:txBody>
      </p:sp>
      <p:sp>
        <p:nvSpPr>
          <p:cNvPr id="23" name="Text 17"/>
          <p:cNvSpPr/>
          <p:nvPr/>
        </p:nvSpPr>
        <p:spPr>
          <a:xfrm>
            <a:off x="675741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2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 invertido, retorno de $2.07 en ahorros</a:t>
            </a:r>
            <a:endParaRPr lang="en-US" sz="920" dirty="0"/>
          </a:p>
        </p:txBody>
      </p:sp>
      <p:sp>
        <p:nvSpPr>
          <p:cNvPr id="24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(inversión inicial) y OPEX (operativo anual)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3444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anual de mantenimiento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846320" y="1371600"/>
            <a:ext cx="3840480" cy="566928"/>
          </a:xfrm>
          <a:prstGeom prst="roundRect">
            <a:avLst>
              <a:gd name="adj" fmla="val 8065"/>
            </a:avLst>
          </a:prstGeom>
          <a:solidFill>
            <a:srgbClr val="F5F9FA"/>
          </a:solidFill>
          <a:ln/>
        </p:spPr>
      </p:sp>
      <p:sp>
        <p:nvSpPr>
          <p:cNvPr id="8" name="Text 5"/>
          <p:cNvSpPr/>
          <p:nvPr/>
        </p:nvSpPr>
        <p:spPr>
          <a:xfrm>
            <a:off x="4983480" y="1371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Nube (AWS, Kafka)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9520" y="13716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$1,200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011680"/>
            <a:ext cx="3840480" cy="566928"/>
          </a:xfrm>
          <a:prstGeom prst="roundRect">
            <a:avLst>
              <a:gd name="adj" fmla="val 8065"/>
            </a:avLst>
          </a:prstGeom>
          <a:solidFill>
            <a:srgbClr val="F5F9FA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2011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Correctivo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20116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651760"/>
            <a:ext cx="3840480" cy="566928"/>
          </a:xfrm>
          <a:prstGeom prst="roundRect">
            <a:avLst>
              <a:gd name="adj" fmla="val 8065"/>
            </a:avLst>
          </a:prstGeom>
          <a:solidFill>
            <a:srgbClr val="F5F9FA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2651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y Backups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89520" y="265176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91840"/>
            <a:ext cx="3840480" cy="566928"/>
          </a:xfrm>
          <a:prstGeom prst="roundRect">
            <a:avLst>
              <a:gd name="adj" fmla="val 8065"/>
            </a:avLst>
          </a:prstGeom>
          <a:solidFill>
            <a:srgbClr val="F5F9FA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3291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Regulatoria SUNAT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4023360"/>
            <a:ext cx="3840480" cy="502920"/>
          </a:xfrm>
          <a:prstGeom prst="roundRect">
            <a:avLst>
              <a:gd name="adj" fmla="val 9091"/>
            </a:avLst>
          </a:prstGeom>
          <a:solidFill>
            <a:srgbClr val="0B3D55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4023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Operativo Total Anual: $3,500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GESTIÓN DE RIESGOS INICIALES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riesgos y mitigación (Business Case)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182112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mitigante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Retraso en la API de facturas SUNAT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(Alto)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Coordinar sandbox temprano y simulación local de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(Bajo)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no autorizado a la BD de cajas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(Alto)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JWT cifrada con firma y expiración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(Bajo)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Resistencia de cajeros a migrar de Excel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(Alto)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Talleres prácticos guiados de usabilidad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(Bajo)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en cálculo de depreciación lineal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E09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(Medio)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Auditar fórmulas matemáticas con contabilidad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(Bajo)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Desviación del alcance del proyecto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E097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(Medio)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Acta de Constitución estricta y control de cambios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(Bajo)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Business Case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1279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108960" cy="3108960"/>
          </a:xfrm>
          <a:prstGeom prst="ellipse">
            <a:avLst/>
          </a:prstGeom>
          <a:solidFill>
            <a:srgbClr val="E0972D">
              <a:alpha val="2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Gestión del Proyecto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(PMBOK / Agile)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3  ·  Competencia CE012: Gestión de Proyectos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 (PROJECT CHARTER)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Sponsor, justificación y restricciones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5F9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y justificación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 por el Director de Administración y Finanzas. La desconexión actual genera descuadres (15% de error) y pérdidas por depreciación fiscal omitida. Finanzas-Clinic ataca estas brechas reduciendo costos y garantizando control interno inmutable (SUSALUD/SUNAT).</a:t>
            </a:r>
            <a:endParaRPr lang="en-US" sz="103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módulos centrales · Equipo interno de 3 devs + 1 QA · 16 semanas de plazo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1772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proyecto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17720" y="1600200"/>
            <a:ext cx="457200" cy="45720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Presupuestal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212080" y="1837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superar $19,000 USD de inversión inicial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617720" y="2258568"/>
            <a:ext cx="457200" cy="45720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23682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212080" y="2496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funcional al término de la semana 16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4617720" y="2916936"/>
            <a:ext cx="457200" cy="457200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302666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21208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obligatorio en contenedores Docker</a:t>
            </a:r>
            <a:endParaRPr lang="en-US" sz="980" dirty="0"/>
          </a:p>
        </p:txBody>
      </p:sp>
      <p:sp>
        <p:nvSpPr>
          <p:cNvPr id="22" name="Text 16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DE ALTO NIVEL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Funcionales y no funcionales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40080" cy="530352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ingresos/egresos de caja chica y general con arqueos en tiempo real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457200" y="2093976"/>
            <a:ext cx="640080" cy="530352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88720" y="209397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activos fijos y calcular depreciación lineal mensual (parámetros SUNAT)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640080" cy="530352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26791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cuentas corrientes y copagos de convenios corporativos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640080" cy="530352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3264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Inyectar automáticamente logs de auditoría ante INSERT/UPDATE/DELETE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57200" y="3849624"/>
            <a:ext cx="640080" cy="530352"/>
          </a:xfrm>
          <a:prstGeom prst="rect">
            <a:avLst/>
          </a:prstGeom>
          <a:solidFill>
            <a:srgbClr val="1279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384962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aprobación digital de descuentos vía alertas web asíncronas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61772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777240" cy="530352"/>
          </a:xfrm>
          <a:prstGeom prst="rect">
            <a:avLst/>
          </a:prstGeom>
          <a:solidFill>
            <a:srgbClr val="0B3D5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0" y="150876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en Angular, responsiva para escritorio y tablets en cajas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4617720" y="2093976"/>
            <a:ext cx="777240" cy="530352"/>
          </a:xfrm>
          <a:prstGeom prst="rect">
            <a:avLst/>
          </a:prstGeom>
          <a:solidFill>
            <a:srgbClr val="0B3D5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209397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cliente-servidor protegida con tokens JWT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4617720" y="2679192"/>
            <a:ext cx="777240" cy="530352"/>
          </a:xfrm>
          <a:prstGeom prst="rect">
            <a:avLst/>
          </a:prstGeom>
          <a:solidFill>
            <a:srgbClr val="0B3D5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0" y="267919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asíncronas vía Kafka, entrega &lt; 2 segundos</a:t>
            </a:r>
            <a:endParaRPr lang="en-US" sz="93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401568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74920" y="34015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mensajería en tiempo real son ejes transversales del diseño técnico.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DESGLOSE DEL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WBS / EDT — 5 fases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72768" cy="2880360"/>
          </a:xfrm>
          <a:prstGeom prst="roundRect">
            <a:avLst>
              <a:gd name="adj" fmla="val 4070"/>
            </a:avLst>
          </a:prstGeom>
          <a:solidFill>
            <a:srgbClr val="F5F9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7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8105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22402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plan de gestión, cierre</a:t>
            </a:r>
            <a:endParaRPr lang="en-US" sz="86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084832" y="1371600"/>
            <a:ext cx="1572768" cy="2880360"/>
          </a:xfrm>
          <a:prstGeom prst="roundRect">
            <a:avLst>
              <a:gd name="adj" fmla="val 4070"/>
            </a:avLst>
          </a:prstGeom>
          <a:solidFill>
            <a:srgbClr val="F5F9FA"/>
          </a:solidFill>
          <a:ln/>
        </p:spPr>
      </p:sp>
      <p:sp>
        <p:nvSpPr>
          <p:cNvPr id="11" name="Text 8"/>
          <p:cNvSpPr/>
          <p:nvPr/>
        </p:nvSpPr>
        <p:spPr>
          <a:xfrm>
            <a:off x="2084832" y="14813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7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8105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57984" y="22402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176272" y="283464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BD, mockups Angular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2084832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$3,000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712464" y="1371600"/>
            <a:ext cx="1572768" cy="2880360"/>
          </a:xfrm>
          <a:prstGeom prst="roundRect">
            <a:avLst>
              <a:gd name="adj" fmla="val 4070"/>
            </a:avLst>
          </a:prstGeom>
          <a:solidFill>
            <a:srgbClr val="0B3D55"/>
          </a:solidFill>
          <a:ln/>
        </p:spPr>
      </p:sp>
      <p:sp>
        <p:nvSpPr>
          <p:cNvPr id="17" name="Text 13"/>
          <p:cNvSpPr/>
          <p:nvPr/>
        </p:nvSpPr>
        <p:spPr>
          <a:xfrm>
            <a:off x="3712464" y="14813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181051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85616" y="22402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803904" y="283464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C9D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Angular, Kafka</a:t>
            </a:r>
            <a:endParaRPr lang="en-US" sz="860" dirty="0"/>
          </a:p>
        </p:txBody>
      </p:sp>
      <p:sp>
        <p:nvSpPr>
          <p:cNvPr id="21" name="Text 16"/>
          <p:cNvSpPr/>
          <p:nvPr/>
        </p:nvSpPr>
        <p:spPr>
          <a:xfrm>
            <a:off x="3712464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$11,000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340096" y="1371600"/>
            <a:ext cx="1572768" cy="2880360"/>
          </a:xfrm>
          <a:prstGeom prst="roundRect">
            <a:avLst>
              <a:gd name="adj" fmla="val 4070"/>
            </a:avLst>
          </a:prstGeom>
          <a:solidFill>
            <a:srgbClr val="F5F9FA"/>
          </a:solidFill>
          <a:ln/>
        </p:spPr>
      </p:sp>
      <p:sp>
        <p:nvSpPr>
          <p:cNvPr id="23" name="Text 18"/>
          <p:cNvSpPr/>
          <p:nvPr/>
        </p:nvSpPr>
        <p:spPr>
          <a:xfrm>
            <a:off x="5340096" y="14813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7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13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181051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13248" y="22402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Auditoría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31536" y="283464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AuditInterceptor</a:t>
            </a:r>
            <a:endParaRPr lang="en-US" sz="860" dirty="0"/>
          </a:p>
        </p:txBody>
      </p:sp>
      <p:sp>
        <p:nvSpPr>
          <p:cNvPr id="27" name="Text 21"/>
          <p:cNvSpPr/>
          <p:nvPr/>
        </p:nvSpPr>
        <p:spPr>
          <a:xfrm>
            <a:off x="5340096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967728" y="1371600"/>
            <a:ext cx="1572768" cy="2880360"/>
          </a:xfrm>
          <a:prstGeom prst="roundRect">
            <a:avLst>
              <a:gd name="adj" fmla="val 4070"/>
            </a:avLst>
          </a:prstGeom>
          <a:solidFill>
            <a:srgbClr val="F5F9FA"/>
          </a:solidFill>
          <a:ln/>
        </p:spPr>
      </p:sp>
      <p:sp>
        <p:nvSpPr>
          <p:cNvPr id="29" name="Text 23"/>
          <p:cNvSpPr/>
          <p:nvPr/>
        </p:nvSpPr>
        <p:spPr>
          <a:xfrm>
            <a:off x="6967728" y="14813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7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1810512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040880" y="22402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059168" y="2834640"/>
            <a:ext cx="1389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6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Docker-Compose, capacitación</a:t>
            </a:r>
            <a:endParaRPr lang="en-US" sz="860" dirty="0"/>
          </a:p>
        </p:txBody>
      </p:sp>
      <p:sp>
        <p:nvSpPr>
          <p:cNvPr id="33" name="Text 26"/>
          <p:cNvSpPr/>
          <p:nvPr/>
        </p:nvSpPr>
        <p:spPr>
          <a:xfrm>
            <a:off x="6967728" y="37947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$2,000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hitos a lo largo de 16 semanas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7863840" cy="0"/>
          </a:xfrm>
          <a:prstGeom prst="line">
            <a:avLst/>
          </a:prstGeom>
          <a:noFill/>
          <a:ln w="31750">
            <a:solidFill>
              <a:srgbClr val="1279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9096" y="2322576"/>
            <a:ext cx="292608" cy="292608"/>
          </a:xfrm>
          <a:prstGeom prst="ellipse">
            <a:avLst/>
          </a:prstGeom>
          <a:solidFill>
            <a:srgbClr val="E097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1051560"/>
            <a:ext cx="125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Charter y Business Case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459736" y="2322576"/>
            <a:ext cx="292608" cy="292608"/>
          </a:xfrm>
          <a:prstGeom prst="ellipse">
            <a:avLst/>
          </a:prstGeom>
          <a:solidFill>
            <a:srgbClr val="E097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78152" y="2788920"/>
            <a:ext cx="125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arquitectura, BD y mockups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770376" y="2322576"/>
            <a:ext cx="292608" cy="292608"/>
          </a:xfrm>
          <a:prstGeom prst="ellipse">
            <a:avLst/>
          </a:prstGeom>
          <a:solidFill>
            <a:srgbClr val="E097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948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8792" y="1051560"/>
            <a:ext cx="125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desarrollo Backend Spring Boot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81016" y="2322576"/>
            <a:ext cx="292608" cy="292608"/>
          </a:xfrm>
          <a:prstGeom prst="ellipse">
            <a:avLst/>
          </a:prstGeom>
          <a:solidFill>
            <a:srgbClr val="E097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012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2788920"/>
            <a:ext cx="125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desarrollo Frontend Angular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391656" y="2322576"/>
            <a:ext cx="292608" cy="292608"/>
          </a:xfrm>
          <a:prstGeom prst="ellipse">
            <a:avLst/>
          </a:prstGeom>
          <a:solidFill>
            <a:srgbClr val="E097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10072" y="1051560"/>
            <a:ext cx="125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final e integración de Kafka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02296" y="2322576"/>
            <a:ext cx="292608" cy="292608"/>
          </a:xfrm>
          <a:prstGeom prst="ellipse">
            <a:avLst/>
          </a:prstGeom>
          <a:solidFill>
            <a:srgbClr val="E097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1400" y="19019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0712" y="2788920"/>
            <a:ext cx="1255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en producción y capacitación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crítica: desarrollo Backend → Frontend (A8–A15), por la complejidad de integraciones Kafka y seguridad JWT.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COSTOS Y PRESUPUESTO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base de costos y reservas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48463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(WBS)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0" y="1627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$19,000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Reserva de Contingencia (10%)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0" y="2542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$1,900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Reserva de Gestión (5%)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0" y="3319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9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0" y="3840480"/>
            <a:ext cx="3017520" cy="685800"/>
          </a:xfrm>
          <a:prstGeom prst="roundRect">
            <a:avLst>
              <a:gd name="adj" fmla="val 8000"/>
            </a:avLst>
          </a:prstGeom>
          <a:solidFill>
            <a:srgbClr val="0B3D55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0" y="3840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total: $21,850 USD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VALOR GANADO (EVM)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Simulación mensual de desempeño de costo y cronograma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777240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evaluado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1 (Sem.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presupuesto, a tiempo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2 (Sem. 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Ligero retraso y sobrecosto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 3 (Sem. 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Adelantado y bajo presupuesto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E6F3E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429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EAC (Mes 3):  </a:t>
            </a: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= BAC / CPI = 19,000 / 1.02 = $18,627 USD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proyecta un ahorro neto de $373 USD frente a la línea base.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extendidos (probabilidad × impacto)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44752"/>
            <a:ext cx="384048" cy="384048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1790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Caídas del bus asíncrono Kafka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621792" y="219456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6DDB2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8 (Med)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/>
        </p:spPr>
      </p:sp>
      <p:sp>
        <p:nvSpPr>
          <p:cNvPr id="11" name="Shape 8"/>
          <p:cNvSpPr/>
          <p:nvPr/>
        </p:nvSpPr>
        <p:spPr>
          <a:xfrm>
            <a:off x="3410712" y="1444752"/>
            <a:ext cx="384048" cy="384048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51790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de cajeros a migrar de Excel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3410712" y="219456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BEAEC"/>
          </a:solidFill>
          <a:ln/>
        </p:spPr>
      </p:sp>
      <p:sp>
        <p:nvSpPr>
          <p:cNvPr id="15" name="Text 11"/>
          <p:cNvSpPr/>
          <p:nvPr/>
        </p:nvSpPr>
        <p:spPr>
          <a:xfrm>
            <a:off x="3410712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12 (Alto)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/>
        </p:spPr>
      </p:sp>
      <p:sp>
        <p:nvSpPr>
          <p:cNvPr id="17" name="Shape 13"/>
          <p:cNvSpPr/>
          <p:nvPr/>
        </p:nvSpPr>
        <p:spPr>
          <a:xfrm>
            <a:off x="6199632" y="1444752"/>
            <a:ext cx="384048" cy="384048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51790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3898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dedicación del equipo técnico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199632" y="219456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BEAEC"/>
          </a:solidFill>
          <a:ln/>
        </p:spPr>
      </p:sp>
      <p:sp>
        <p:nvSpPr>
          <p:cNvPr id="21" name="Text 16"/>
          <p:cNvSpPr/>
          <p:nvPr/>
        </p:nvSpPr>
        <p:spPr>
          <a:xfrm>
            <a:off x="6199632" y="21945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12 (Alto)</a:t>
            </a:r>
            <a:endParaRPr lang="en-US" sz="830" dirty="0"/>
          </a:p>
        </p:txBody>
      </p:sp>
      <p:sp>
        <p:nvSpPr>
          <p:cNvPr id="22" name="Shape 17"/>
          <p:cNvSpPr/>
          <p:nvPr/>
        </p:nvSpPr>
        <p:spPr>
          <a:xfrm>
            <a:off x="457200" y="27889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/>
        </p:spPr>
      </p:sp>
      <p:sp>
        <p:nvSpPr>
          <p:cNvPr id="23" name="Shape 18"/>
          <p:cNvSpPr/>
          <p:nvPr/>
        </p:nvSpPr>
        <p:spPr>
          <a:xfrm>
            <a:off x="621792" y="2953512"/>
            <a:ext cx="384048" cy="384048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02666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28986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Modificación regulatoria imprevista SUNAT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621792" y="370332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BEAEC"/>
          </a:solidFill>
          <a:ln/>
        </p:spPr>
      </p:sp>
      <p:sp>
        <p:nvSpPr>
          <p:cNvPr id="27" name="Text 21"/>
          <p:cNvSpPr/>
          <p:nvPr/>
        </p:nvSpPr>
        <p:spPr>
          <a:xfrm>
            <a:off x="621792" y="3703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12 (Alto)</a:t>
            </a:r>
            <a:endParaRPr lang="en-US" sz="830" dirty="0"/>
          </a:p>
        </p:txBody>
      </p:sp>
      <p:sp>
        <p:nvSpPr>
          <p:cNvPr id="28" name="Shape 22"/>
          <p:cNvSpPr/>
          <p:nvPr/>
        </p:nvSpPr>
        <p:spPr>
          <a:xfrm>
            <a:off x="3246120" y="27889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/>
        </p:spPr>
      </p:sp>
      <p:sp>
        <p:nvSpPr>
          <p:cNvPr id="29" name="Shape 23"/>
          <p:cNvSpPr/>
          <p:nvPr/>
        </p:nvSpPr>
        <p:spPr>
          <a:xfrm>
            <a:off x="3410712" y="2953512"/>
            <a:ext cx="384048" cy="384048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026664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886200" y="28986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 históricos en migración</a:t>
            </a:r>
            <a:endParaRPr lang="en-US" sz="980" dirty="0"/>
          </a:p>
        </p:txBody>
      </p:sp>
      <p:sp>
        <p:nvSpPr>
          <p:cNvPr id="32" name="Shape 25"/>
          <p:cNvSpPr/>
          <p:nvPr/>
        </p:nvSpPr>
        <p:spPr>
          <a:xfrm>
            <a:off x="3410712" y="370332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6DDB2"/>
          </a:solidFill>
          <a:ln/>
        </p:spPr>
      </p:sp>
      <p:sp>
        <p:nvSpPr>
          <p:cNvPr id="33" name="Text 26"/>
          <p:cNvSpPr/>
          <p:nvPr/>
        </p:nvSpPr>
        <p:spPr>
          <a:xfrm>
            <a:off x="3410712" y="3703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8 (Med)</a:t>
            </a:r>
            <a:endParaRPr lang="en-US" sz="830" dirty="0"/>
          </a:p>
        </p:txBody>
      </p:sp>
      <p:sp>
        <p:nvSpPr>
          <p:cNvPr id="34" name="Shape 27"/>
          <p:cNvSpPr/>
          <p:nvPr/>
        </p:nvSpPr>
        <p:spPr>
          <a:xfrm>
            <a:off x="6035040" y="27889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5F9FA"/>
          </a:solidFill>
          <a:ln/>
        </p:spPr>
      </p:sp>
      <p:sp>
        <p:nvSpPr>
          <p:cNvPr id="35" name="Shape 28"/>
          <p:cNvSpPr/>
          <p:nvPr/>
        </p:nvSpPr>
        <p:spPr>
          <a:xfrm>
            <a:off x="6199632" y="2953512"/>
            <a:ext cx="384048" cy="384048"/>
          </a:xfrm>
          <a:prstGeom prst="ellipse">
            <a:avLst/>
          </a:prstGeom>
          <a:solidFill>
            <a:srgbClr val="0B3D55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26664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75120" y="289864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Incompatibilidad de Angular en navegadores legacy</a:t>
            </a:r>
            <a:endParaRPr lang="en-US" sz="980" dirty="0"/>
          </a:p>
        </p:txBody>
      </p:sp>
      <p:sp>
        <p:nvSpPr>
          <p:cNvPr id="38" name="Shape 30"/>
          <p:cNvSpPr/>
          <p:nvPr/>
        </p:nvSpPr>
        <p:spPr>
          <a:xfrm>
            <a:off x="6199632" y="3703320"/>
            <a:ext cx="1188720" cy="310896"/>
          </a:xfrm>
          <a:prstGeom prst="roundRect">
            <a:avLst>
              <a:gd name="adj" fmla="val 11765"/>
            </a:avLst>
          </a:prstGeom>
          <a:solidFill>
            <a:srgbClr val="F6DDB2"/>
          </a:solidFill>
          <a:ln/>
        </p:spPr>
      </p:sp>
      <p:sp>
        <p:nvSpPr>
          <p:cNvPr id="39" name="Text 31"/>
          <p:cNvSpPr/>
          <p:nvPr/>
        </p:nvSpPr>
        <p:spPr>
          <a:xfrm>
            <a:off x="6199632" y="37033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9 (Med)</a:t>
            </a:r>
            <a:endParaRPr lang="en-US" sz="830" dirty="0"/>
          </a:p>
        </p:txBody>
      </p:sp>
      <p:sp>
        <p:nvSpPr>
          <p:cNvPr id="40" name="Text 32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ÁGIL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Ceremonias de Scrum durante la construcción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5" name="Shape 3"/>
          <p:cNvSpPr/>
          <p:nvPr/>
        </p:nvSpPr>
        <p:spPr>
          <a:xfrm>
            <a:off x="1184148" y="1554480"/>
            <a:ext cx="512064" cy="512064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733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216" y="2606040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selección de historias del Product Backlog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2514600" y="13716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3241548" y="1554480"/>
            <a:ext cx="512064" cy="512064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16733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642616" y="2606040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¿qué hice?, ¿qué haré?, ¿impedimentos?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4572000" y="13716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5298948" y="1554480"/>
            <a:ext cx="512064" cy="512064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16733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6344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00016" y="2606040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· incremento presentado al Sponsor y Jefe de Finanzas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6629400" y="137160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356348" y="1554480"/>
            <a:ext cx="512064" cy="512064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220" y="16733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2084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757416" y="2606040"/>
            <a:ext cx="170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hora · mejora continua de procesos y dinámicas</a:t>
            </a:r>
            <a:endParaRPr lang="en-US" sz="930" dirty="0"/>
          </a:p>
        </p:txBody>
      </p:sp>
      <p:sp>
        <p:nvSpPr>
          <p:cNvPr id="24" name="Text 18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semanas de desarrollo iterativo · DoR y DoD definidos para cada Historia de Usuario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PRIORIZADO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Historias de usuario de mayor prioridad (de 12 totales)</a:t>
            </a:r>
            <a:endParaRPr lang="en-US" sz="2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 Apertura y cierre de cajas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US-03 Búsqueda e integración de admisión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US-04 Emisión de comprobantes de pago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Cajero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US-07 Control de cuentas de convenios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Finanzas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US-08 Aprobación de descuentos especiales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US-10 Autenticación y seguridad de roles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127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Given-When-Then (Dado que… cuando… entonces…) para todos los criterios de aceptación.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COMUNICACIONES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RACI y plan de comunicaciones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RACI (extracto)</a:t>
            </a:r>
            <a:endParaRPr lang="en-US" sz="12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2468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Modelado BPMN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Cajas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Interceptor de Auditoría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y Despliegue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79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Responsable · A = Aprobador · C = Consultado · I = Informado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470916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comunicaciones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536192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618488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3792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diario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5193792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→ PM · Daily Standup</a:t>
            </a:r>
            <a:endParaRPr lang="en-US" sz="930" dirty="0"/>
          </a:p>
        </p:txBody>
      </p:sp>
      <p:sp>
        <p:nvSpPr>
          <p:cNvPr id="12" name="Shape 8"/>
          <p:cNvSpPr/>
          <p:nvPr/>
        </p:nvSpPr>
        <p:spPr>
          <a:xfrm>
            <a:off x="4709160" y="2130552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2128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3792" y="2112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EVM</a:t>
            </a:r>
            <a:endParaRPr lang="en-US" sz="1080" dirty="0"/>
          </a:p>
        </p:txBody>
      </p:sp>
      <p:sp>
        <p:nvSpPr>
          <p:cNvPr id="15" name="Text 10"/>
          <p:cNvSpPr/>
          <p:nvPr/>
        </p:nvSpPr>
        <p:spPr>
          <a:xfrm>
            <a:off x="5193792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→ Gerencia · Mensual</a:t>
            </a:r>
            <a:endParaRPr lang="en-US" sz="930" dirty="0"/>
          </a:p>
        </p:txBody>
      </p:sp>
      <p:sp>
        <p:nvSpPr>
          <p:cNvPr id="16" name="Shape 11"/>
          <p:cNvSpPr/>
          <p:nvPr/>
        </p:nvSpPr>
        <p:spPr>
          <a:xfrm>
            <a:off x="4709160" y="2724912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80720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93792" y="2706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incrementos</a:t>
            </a:r>
            <a:endParaRPr lang="en-US" sz="1080" dirty="0"/>
          </a:p>
        </p:txBody>
      </p:sp>
      <p:sp>
        <p:nvSpPr>
          <p:cNvPr id="19" name="Text 13"/>
          <p:cNvSpPr/>
          <p:nvPr/>
        </p:nvSpPr>
        <p:spPr>
          <a:xfrm>
            <a:off x="5193792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→ Sponsor · c/2 semanas</a:t>
            </a:r>
            <a:endParaRPr lang="en-US" sz="930" dirty="0"/>
          </a:p>
        </p:txBody>
      </p:sp>
      <p:sp>
        <p:nvSpPr>
          <p:cNvPr id="20" name="Shape 14"/>
          <p:cNvSpPr/>
          <p:nvPr/>
        </p:nvSpPr>
        <p:spPr>
          <a:xfrm>
            <a:off x="4709160" y="3319272"/>
            <a:ext cx="384048" cy="384048"/>
          </a:xfrm>
          <a:prstGeom prst="ellipse">
            <a:avLst/>
          </a:prstGeom>
          <a:solidFill>
            <a:srgbClr val="1279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40156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93792" y="3300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cambio</a:t>
            </a:r>
            <a:endParaRPr lang="en-US" sz="1080" dirty="0"/>
          </a:p>
        </p:txBody>
      </p:sp>
      <p:sp>
        <p:nvSpPr>
          <p:cNvPr id="23" name="Text 16"/>
          <p:cNvSpPr/>
          <p:nvPr/>
        </p:nvSpPr>
        <p:spPr>
          <a:xfrm>
            <a:off x="5193792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 → Comité · Por ocurrencia</a:t>
            </a:r>
            <a:endParaRPr lang="en-US" sz="930" dirty="0"/>
          </a:p>
        </p:txBody>
      </p:sp>
      <p:sp>
        <p:nvSpPr>
          <p:cNvPr id="24" name="Text 1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 de Gestión (PMBOK/Agile)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1279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108960" cy="3108960"/>
          </a:xfrm>
          <a:prstGeom prst="ellipse">
            <a:avLst/>
          </a:prstGeom>
          <a:solidFill>
            <a:srgbClr val="E0972D">
              <a:alpha val="2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Procesos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/ TO-BE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4  ·  Competencia CE011: Gobierno e Innovación de TI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Reingeniería de Procesos (BPR) y notación BPMN 2.0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F5F9F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81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BPR (Hammer &amp; Champy)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19659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radical del flujo informático, no mejoras incrementales ni parches en Excel. Al unificar admisión con cobro se elimina la doble digitación y se introduce control interno mediante automatización y mensajería en tiempo real.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2.0 se adopta como estándar para graficar los procesos AS-IS y TO-BE de forma unificada.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1772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esencial de BPMN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17720" y="1645920"/>
            <a:ext cx="82296" cy="82296"/>
          </a:xfrm>
          <a:prstGeom prst="ellipse">
            <a:avLst/>
          </a:prstGeom>
          <a:solidFill>
            <a:srgbClr val="E0972D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16002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 Lane: </a:t>
            </a:r>
            <a:r>
              <a:rPr lang="en-US" sz="9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la organización y carriles por actor (cajeros, contabilidad, TI)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4617720" y="2231136"/>
            <a:ext cx="82296" cy="82296"/>
          </a:xfrm>
          <a:prstGeom prst="ellipse">
            <a:avLst/>
          </a:prstGeom>
          <a:solidFill>
            <a:srgbClr val="E0972D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218541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Servicio: </a:t>
            </a:r>
            <a:r>
              <a:rPr lang="en-US" sz="9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automática de backend (APIs, interceptor de auditoría)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617720" y="2816352"/>
            <a:ext cx="82296" cy="82296"/>
          </a:xfrm>
          <a:prstGeom prst="ellipse">
            <a:avLst/>
          </a:prstGeom>
          <a:solidFill>
            <a:srgbClr val="E0972D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27706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Envío/Recepción: </a:t>
            </a:r>
            <a:r>
              <a:rPr lang="en-US" sz="9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enviado o recibido vía tópico de Kafka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617720" y="3401568"/>
            <a:ext cx="82296" cy="82296"/>
          </a:xfrm>
          <a:prstGeom prst="ellipse">
            <a:avLst/>
          </a:prstGeom>
          <a:solidFill>
            <a:srgbClr val="E0972D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33558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 X / +: </a:t>
            </a:r>
            <a:r>
              <a:rPr lang="en-US" sz="98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Bifurcación exclusiva o de caminos paralelos simultáneos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Modelado AS-IS / TO-BE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E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AS-IS: tres subprocesos manuales y desconectados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41348" y="1463040"/>
            <a:ext cx="512064" cy="512064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15819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y Arqueo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8952" y="251460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pasos manuales · doble digitación en Excel y portal PSE · cierre hasta 2 h ante descuadres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BEAEC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886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8328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430268" y="1463040"/>
            <a:ext cx="512064" cy="512064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5819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de Activos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47872" y="251460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cuadernos/Excel sin códigos de barras · cálculo manual omite bajas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3749040" y="38862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BEAEC"/>
          </a:solidFill>
          <a:ln/>
        </p:spPr>
      </p:sp>
      <p:sp>
        <p:nvSpPr>
          <p:cNvPr id="17" name="Text 13"/>
          <p:cNvSpPr/>
          <p:nvPr/>
        </p:nvSpPr>
        <p:spPr>
          <a:xfrm>
            <a:off x="3749040" y="3886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días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17220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7219188" y="1463040"/>
            <a:ext cx="512064" cy="512064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58191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103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 Corporativos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336792" y="251460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Copago en papel, revisión de archivador físico mensual, envío por correo al seguro</a:t>
            </a:r>
            <a:endParaRPr lang="en-US" sz="970" dirty="0"/>
          </a:p>
        </p:txBody>
      </p:sp>
      <p:sp>
        <p:nvSpPr>
          <p:cNvPr id="23" name="Shape 18"/>
          <p:cNvSpPr/>
          <p:nvPr/>
        </p:nvSpPr>
        <p:spPr>
          <a:xfrm>
            <a:off x="6537960" y="38862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BEAEC"/>
          </a:solidFill>
          <a:ln/>
        </p:spPr>
      </p:sp>
      <p:sp>
        <p:nvSpPr>
          <p:cNvPr id="24" name="Text 19"/>
          <p:cNvSpPr/>
          <p:nvPr/>
        </p:nvSpPr>
        <p:spPr>
          <a:xfrm>
            <a:off x="6537960" y="3886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días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Modelado AS-IS / TO-BE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PROPUESTO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TO-BE: digitalización con Finanzas-Clinic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41348" y="1463040"/>
            <a:ext cx="512064" cy="512064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15819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y Arqueo Digitalizado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8952" y="2606040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JWT, búsqueda de admisión en tiempo real, boleta síncrona al PSE, cierre en un clic con auditoría activa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E6F3EE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886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8328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430268" y="1463040"/>
            <a:ext cx="512064" cy="512064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5819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Fijos Automatizado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547872" y="2606040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código de barras único, proceso batch de depreciación lineal en Spring Boot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3749040" y="38862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E6F3EE"/>
          </a:solidFill>
          <a:ln/>
        </p:spPr>
      </p:sp>
      <p:sp>
        <p:nvSpPr>
          <p:cNvPr id="17" name="Text 13"/>
          <p:cNvSpPr/>
          <p:nvPr/>
        </p:nvSpPr>
        <p:spPr>
          <a:xfrm>
            <a:off x="3749040" y="3886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172200" y="12801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7219188" y="1463040"/>
            <a:ext cx="512064" cy="512064"/>
          </a:xfrm>
          <a:prstGeom prst="ellipse">
            <a:avLst/>
          </a:prstGeom>
          <a:solidFill>
            <a:srgbClr val="1E8A6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58191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1031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 Digitalizado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336792" y="2606040"/>
            <a:ext cx="2276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7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 de copago, alertas Kafka 10 días antes del vencimiento</a:t>
            </a:r>
            <a:endParaRPr lang="en-US" sz="970" dirty="0"/>
          </a:p>
        </p:txBody>
      </p:sp>
      <p:sp>
        <p:nvSpPr>
          <p:cNvPr id="23" name="Shape 18"/>
          <p:cNvSpPr/>
          <p:nvPr/>
        </p:nvSpPr>
        <p:spPr>
          <a:xfrm>
            <a:off x="6537960" y="38862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E6F3EE"/>
          </a:solidFill>
          <a:ln/>
        </p:spPr>
      </p:sp>
      <p:sp>
        <p:nvSpPr>
          <p:cNvPr id="24" name="Text 19"/>
          <p:cNvSpPr/>
          <p:nvPr/>
        </p:nvSpPr>
        <p:spPr>
          <a:xfrm>
            <a:off x="6537960" y="3886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Modelado AS-IS / TO-BE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Eficiencia cuantificada: AS-IS vs. TO-BE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eficiencia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y Arqueo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452360" y="16002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87.5%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2167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de Activos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52360" y="21671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0" y="27340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Convenios Corporativos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52360" y="273405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98.5%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69280" y="33009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descuentos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52360" y="330098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Modelado AS-IS / TO-BE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4892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114800" cy="4114800"/>
          </a:xfrm>
          <a:prstGeom prst="ellipse">
            <a:avLst/>
          </a:prstGeom>
          <a:solidFill>
            <a:srgbClr val="1279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017520"/>
            <a:ext cx="3291840" cy="3291840"/>
          </a:xfrm>
          <a:prstGeom prst="ellipse">
            <a:avLst/>
          </a:prstGeom>
          <a:solidFill>
            <a:srgbClr val="E0972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09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GENERALES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Finanzas-Clinic: un proyecto viable, rentable y estratégicamente alineado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E0972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92938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80136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confirma madurez digital Nivel 1 y una causa raíz clara: falta de arquitectura integrada y plan de TI.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487168"/>
            <a:ext cx="420624" cy="420624"/>
          </a:xfrm>
          <a:prstGeom prst="ellipse">
            <a:avLst/>
          </a:prstGeom>
          <a:solidFill>
            <a:srgbClr val="E0972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58775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5973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Business Case demuestra viabilidad financiera: VAN $29,276.81, TIR 87.2% y recupero en 11.3 meses.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420624" cy="420624"/>
          </a:xfrm>
          <a:prstGeom prst="ellipse">
            <a:avLst/>
          </a:prstGeom>
          <a:solidFill>
            <a:srgbClr val="E0972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2461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1810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Gestión (PMBOK + Scrum) entrega una hoja de ruta de 16 semanas, con EVM y riesgos controlados.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803904"/>
            <a:ext cx="420624" cy="420624"/>
          </a:xfrm>
          <a:prstGeom prst="ellipse">
            <a:avLst/>
          </a:prstGeom>
          <a:solidFill>
            <a:srgbClr val="E0972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90448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77647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modelado AS-IS/TO-BE cuantifica ahorros de hasta 99.9% en tiempo y $23,600 USD anuales.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B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iniciar la ejecución con comité de seguimiento mensual de costos y riesgos.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95528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3748</Words>
  <Application>Microsoft Office PowerPoint</Application>
  <PresentationFormat>Presentación en pantalla (16:9)</PresentationFormat>
  <Paragraphs>748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6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Finanzas-Clinic: Diagnóstico, Business Case, Plan de Gestión y Modelado de Procesos</dc:title>
  <dc:subject>PptxGenJS Presentation</dc:subject>
  <dc:creator>Condori Pachauri Omar / Flores Llanque Mery Elizabeth / Huahuaccapa Ccama Jaqueline</dc:creator>
  <cp:lastModifiedBy>elizabeth.flores.l</cp:lastModifiedBy>
  <cp:revision>5</cp:revision>
  <dcterms:created xsi:type="dcterms:W3CDTF">2026-07-07T04:17:13Z</dcterms:created>
  <dcterms:modified xsi:type="dcterms:W3CDTF">2026-07-07T13:57:17Z</dcterms:modified>
</cp:coreProperties>
</file>