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3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Peso (%)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B254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Costo Total de Propiedad (TCO)</c:v>
                  </c:pt>
                  <c:pt idx="1">
                    <c:v>Adaptabilidad y Personalización</c:v>
                  </c:pt>
                  <c:pt idx="2">
                    <c:v>Seguridad e Integración</c:v>
                  </c:pt>
                  <c:pt idx="3">
                    <c:v>Escalabilidad y Rendimiento</c:v>
                  </c:pt>
                  <c:pt idx="4">
                    <c:v>Tiempo de Salida al Mercado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</c:v>
                </c:pt>
                <c:pt idx="1">
                  <c:v>20</c:v>
                </c:pt>
                <c:pt idx="2">
                  <c:v>20</c:v>
                </c:pt>
                <c:pt idx="3">
                  <c:v>15</c:v>
                </c:pt>
                <c:pt idx="4">
                  <c:v>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B254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70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70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Flujo Neto Anual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Año 0</c:v>
                  </c:pt>
                  <c:pt idx="1">
                    <c:v>Año 1</c:v>
                  </c:pt>
                  <c:pt idx="2">
                    <c:v>Año 2</c:v>
                  </c:pt>
                  <c:pt idx="3">
                    <c:v>Año 3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-19000</c:v>
                </c:pt>
                <c:pt idx="1">
                  <c:v>20100</c:v>
                </c:pt>
                <c:pt idx="2">
                  <c:v>20100</c:v>
                </c:pt>
                <c:pt idx="3">
                  <c:v>20100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Flujo Acumulado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Año 0</c:v>
                  </c:pt>
                  <c:pt idx="1">
                    <c:v>Año 1</c:v>
                  </c:pt>
                  <c:pt idx="2">
                    <c:v>Año 2</c:v>
                  </c:pt>
                  <c:pt idx="3">
                    <c:v>Año 3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-19000</c:v>
                </c:pt>
                <c:pt idx="1">
                  <c:v>1100</c:v>
                </c:pt>
                <c:pt idx="2">
                  <c:v>21200</c:v>
                </c:pt>
                <c:pt idx="3">
                  <c:v>41300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70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70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2545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B2545"/>
                </a:solidFill>
                <a:latin typeface="Arial"/>
              </a:rPr>
              <a:t>Distribución del CAPEX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CAPEX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B2545"/>
              </a:solidFill>
              <a:effectLst/>
            </c:spPr>
          </c:dPt>
          <c:dPt>
            <c:idx val="1"/>
            <c:bubble3D val="0"/>
            <c:spPr>
              <a:solidFill>
                <a:srgbClr val="028090"/>
              </a:solidFill>
              <a:effectLst/>
            </c:spPr>
          </c:dPt>
          <c:dPt>
            <c:idx val="2"/>
            <c:bubble3D val="0"/>
            <c:spPr>
              <a:solidFill>
                <a:srgbClr val="00A896"/>
              </a:solidFill>
              <a:effectLst/>
            </c:spPr>
          </c:dPt>
          <c:dPt>
            <c:idx val="3"/>
            <c:bubble3D val="0"/>
            <c:spPr>
              <a:solidFill>
                <a:srgbClr val="02C39A"/>
              </a:solidFill>
              <a:effectLst/>
            </c:spPr>
          </c:dPt>
          <c:dPt>
            <c:idx val="4"/>
            <c:bubble3D val="0"/>
            <c:spPr>
              <a:solidFill>
                <a:srgbClr val="6FB7C4"/>
              </a:solidFill>
              <a:effectLst/>
            </c:spPr>
          </c:dPt>
          <c:dPt>
            <c:idx val="5"/>
            <c:bubble3D val="0"/>
            <c:spPr>
              <a:solidFill>
                <a:srgbClr val="A8D5DC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C-01</c:v>
                </c:pt>
                <c:pt idx="1">
                  <c:v>C-02</c:v>
                </c:pt>
                <c:pt idx="2">
                  <c:v>C-03</c:v>
                </c:pt>
                <c:pt idx="3">
                  <c:v>C-04</c:v>
                </c:pt>
                <c:pt idx="4">
                  <c:v>C-05</c:v>
                </c:pt>
                <c:pt idx="5">
                  <c:v>C-06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4000</c:v>
                </c:pt>
                <c:pt idx="1">
                  <c:v>6000</c:v>
                </c:pt>
                <c:pt idx="2">
                  <c:v>5000</c:v>
                </c:pt>
                <c:pt idx="3">
                  <c:v>2500</c:v>
                </c:pt>
                <c:pt idx="4">
                  <c:v>500</c:v>
                </c:pt>
                <c:pt idx="5">
                  <c:v>1000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5029200" cy="5029200"/>
          </a:xfrm>
          <a:prstGeom prst="ellipse">
            <a:avLst/>
          </a:prstGeom>
          <a:solidFill>
            <a:srgbClr val="028090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206240"/>
            <a:ext cx="3291840" cy="3291840"/>
          </a:xfrm>
          <a:prstGeom prst="ellipse">
            <a:avLst/>
          </a:prstGeom>
          <a:solidFill>
            <a:srgbClr val="02C39A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PERUANA UNIÓN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Facultad de Ingeniería y Arquitectura · Escuela de Ingeniería de Sistemas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2148840"/>
            <a:ext cx="868680" cy="8686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7377" y="2374697"/>
            <a:ext cx="416966" cy="41696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324612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Case del Proyecto</a:t>
            </a:r>
            <a:endParaRPr lang="en-US" sz="4200" dirty="0"/>
          </a:p>
        </p:txBody>
      </p:sp>
      <p:sp>
        <p:nvSpPr>
          <p:cNvPr id="9" name="Text 6"/>
          <p:cNvSpPr/>
          <p:nvPr/>
        </p:nvSpPr>
        <p:spPr>
          <a:xfrm>
            <a:off x="731520" y="397764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Gestión Financiera y Administrativa ‘Finanzas-Clinic’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31520" y="4526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de estudio: Clínica Médica Unión  ·  Proyecto de Gestión Integral de TI para Transformación Organizacional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31520" y="562356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7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Condori Pachauri Omar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7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Flores Llanque Mery Elizabeth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7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Huahuaccapa Ccama Jaqueline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265615" y="61264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Juliaca, Perú ·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de la Exposición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822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508760" y="1911096"/>
            <a:ext cx="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91640" y="1600200"/>
            <a:ext cx="9601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y justificación de la inversión en TI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221992"/>
            <a:ext cx="10789920" cy="0"/>
          </a:xfrm>
          <a:prstGeom prst="line">
            <a:avLst/>
          </a:prstGeom>
          <a:noFill/>
          <a:ln w="12700">
            <a:solidFill>
              <a:srgbClr val="EAEF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221992"/>
            <a:ext cx="822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508760" y="2532888"/>
            <a:ext cx="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91640" y="2221992"/>
            <a:ext cx="9601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del problema y objetivos SMART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2843784"/>
            <a:ext cx="10789920" cy="0"/>
          </a:xfrm>
          <a:prstGeom prst="line">
            <a:avLst/>
          </a:prstGeom>
          <a:noFill/>
          <a:ln w="12700">
            <a:solidFill>
              <a:srgbClr val="EAEF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843784"/>
            <a:ext cx="822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1508760" y="3154680"/>
            <a:ext cx="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91640" y="2843784"/>
            <a:ext cx="9601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alternativas tecnológicas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" y="3465576"/>
            <a:ext cx="10789920" cy="0"/>
          </a:xfrm>
          <a:prstGeom prst="line">
            <a:avLst/>
          </a:prstGeom>
          <a:noFill/>
          <a:ln w="12700">
            <a:solidFill>
              <a:srgbClr val="EAEF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465576"/>
            <a:ext cx="822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1508760" y="3776472"/>
            <a:ext cx="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91640" y="3465576"/>
            <a:ext cx="9601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de beneficios financieros (VAN, TIR, PRI, B/C)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0080" y="4087368"/>
            <a:ext cx="10789920" cy="0"/>
          </a:xfrm>
          <a:prstGeom prst="line">
            <a:avLst/>
          </a:prstGeom>
          <a:noFill/>
          <a:ln w="12700">
            <a:solidFill>
              <a:srgbClr val="EAEF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087368"/>
            <a:ext cx="822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1508760" y="4398264"/>
            <a:ext cx="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691640" y="4087368"/>
            <a:ext cx="9601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Estimación de costos: CAPEX y OPEX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40080" y="4709160"/>
            <a:ext cx="10789920" cy="0"/>
          </a:xfrm>
          <a:prstGeom prst="line">
            <a:avLst/>
          </a:prstGeom>
          <a:noFill/>
          <a:ln w="12700">
            <a:solidFill>
              <a:srgbClr val="EAEF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709160"/>
            <a:ext cx="822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1508760" y="5020056"/>
            <a:ext cx="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91640" y="4709160"/>
            <a:ext cx="9601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riesgos iniciales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40080" y="5330952"/>
            <a:ext cx="10789920" cy="0"/>
          </a:xfrm>
          <a:prstGeom prst="line">
            <a:avLst/>
          </a:prstGeom>
          <a:noFill/>
          <a:ln w="12700">
            <a:solidFill>
              <a:srgbClr val="EAEFF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5330952"/>
            <a:ext cx="822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1508760" y="5641848"/>
            <a:ext cx="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691640" y="5330952"/>
            <a:ext cx="9601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y recomendaciones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Finanzas-Clinic · Business Case del Proyecto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DE ANTECEDENTES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invertir en TI ahora?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57800" cy="4480560"/>
          </a:xfrm>
          <a:prstGeom prst="rect">
            <a:avLst/>
          </a:prstGeom>
          <a:solidFill>
            <a:srgbClr val="F4F7F8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1168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046" y="2154326"/>
            <a:ext cx="263347" cy="26334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14400" y="201168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" y="2157984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00200" y="1984248"/>
            <a:ext cx="4160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Costos de transacción en salud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914400" y="2697480"/>
            <a:ext cx="47091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desconexión entre el registro médico (admisión) y el cobro (cajas) obliga a una digitación redundante que eleva el riesgo operativo. Cada minuto de transcripción manual incrementa el costo de facturación y propicia pérdidas por mermas en los arqueos.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263640" y="1691640"/>
            <a:ext cx="5257800" cy="4480560"/>
          </a:xfrm>
          <a:prstGeom prst="rect">
            <a:avLst/>
          </a:prstGeom>
          <a:solidFill>
            <a:srgbClr val="0B2545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537960" y="201168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4264" y="2157984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223760" y="1984248"/>
            <a:ext cx="4160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Desarrollo propio vs. compra de ERP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537960" y="2697480"/>
            <a:ext cx="47091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6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ERP comerciales de salud tienen altos costos de licenciamiento y personalización compleja frente al sistema legacy. El desarrollo a medida ‘Finanzas-Clinic’ elimina licencias recurrentes, otorga propiedad intelectual completa e integra nativamente las reglas de SUNAT, con un TCO altamente competitivo.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Finanzas-Clinic · Business Case del Proyecto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JUSTIFICACIÓN DEL PROYECTO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 y sus pérdidas económicas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4434840"/>
          </a:xfrm>
          <a:prstGeom prst="rect">
            <a:avLst/>
          </a:prstGeom>
          <a:solidFill>
            <a:srgbClr val="F4F7F8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65960"/>
            <a:ext cx="502920" cy="502920"/>
          </a:xfrm>
          <a:prstGeom prst="ellipse">
            <a:avLst/>
          </a:prstGeom>
          <a:solidFill>
            <a:srgbClr val="FCEBE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2093976"/>
            <a:ext cx="246888" cy="2468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60604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15%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777240" y="3172968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errores en cobros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3657600"/>
            <a:ext cx="2148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Descuadres en arqueo de cajas por transcripción manual al facturador PSE.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77240" y="5559552"/>
            <a:ext cx="21488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" y="562356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-$500 USD / mes por sucursal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355848" y="1691640"/>
            <a:ext cx="2606040" cy="4434840"/>
          </a:xfrm>
          <a:prstGeom prst="rect">
            <a:avLst/>
          </a:prstGeom>
          <a:solidFill>
            <a:srgbClr val="F4F7F8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584448" y="1965960"/>
            <a:ext cx="502920" cy="502920"/>
          </a:xfrm>
          <a:prstGeom prst="ellipse">
            <a:avLst/>
          </a:prstGeom>
          <a:solidFill>
            <a:srgbClr val="FCEBEA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2464" y="2093976"/>
            <a:ext cx="246888" cy="24688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84448" y="260604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200" dirty="0"/>
          </a:p>
        </p:txBody>
      </p:sp>
      <p:sp>
        <p:nvSpPr>
          <p:cNvPr id="16" name="Text 12"/>
          <p:cNvSpPr/>
          <p:nvPr/>
        </p:nvSpPr>
        <p:spPr>
          <a:xfrm>
            <a:off x="3584448" y="3172968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 enlazado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3584448" y="3657600"/>
            <a:ext cx="2148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Depreciación fiscal calculada manualmente en Excel, sin control de activos fijos.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3584448" y="5559552"/>
            <a:ext cx="21488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584448" y="562356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Multas regulatorias SUNAT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163056" y="1691640"/>
            <a:ext cx="2606040" cy="4434840"/>
          </a:xfrm>
          <a:prstGeom prst="rect">
            <a:avLst/>
          </a:prstGeom>
          <a:solidFill>
            <a:srgbClr val="F4F7F8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391656" y="1965960"/>
            <a:ext cx="502920" cy="502920"/>
          </a:xfrm>
          <a:prstGeom prst="ellipse">
            <a:avLst/>
          </a:prstGeom>
          <a:solidFill>
            <a:srgbClr val="FCEBEA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9672" y="2093976"/>
            <a:ext cx="246888" cy="24688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391656" y="260604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5%</a:t>
            </a:r>
            <a:endParaRPr lang="en-US" sz="3200" dirty="0"/>
          </a:p>
        </p:txBody>
      </p:sp>
      <p:sp>
        <p:nvSpPr>
          <p:cNvPr id="24" name="Text 19"/>
          <p:cNvSpPr/>
          <p:nvPr/>
        </p:nvSpPr>
        <p:spPr>
          <a:xfrm>
            <a:off x="6391656" y="3172968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facturas no cobradas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6391656" y="3657600"/>
            <a:ext cx="2148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Copagos y convenios con aseguradoras se procesan tarde, sin alertas de vencimiento.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6391656" y="5559552"/>
            <a:ext cx="21488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6391656" y="562356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-$10,000 USD / año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8970264" y="1691640"/>
            <a:ext cx="2606040" cy="4434840"/>
          </a:xfrm>
          <a:prstGeom prst="rect">
            <a:avLst/>
          </a:prstGeom>
          <a:solidFill>
            <a:srgbClr val="F4F7F8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9198864" y="1965960"/>
            <a:ext cx="502920" cy="502920"/>
          </a:xfrm>
          <a:prstGeom prst="ellipse">
            <a:avLst/>
          </a:prstGeom>
          <a:solidFill>
            <a:srgbClr val="FCEBEA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0" y="2093976"/>
            <a:ext cx="246888" cy="246888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9198864" y="260604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200" dirty="0"/>
          </a:p>
        </p:txBody>
      </p:sp>
      <p:sp>
        <p:nvSpPr>
          <p:cNvPr id="32" name="Text 26"/>
          <p:cNvSpPr/>
          <p:nvPr/>
        </p:nvSpPr>
        <p:spPr>
          <a:xfrm>
            <a:off x="9198864" y="3172968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de auditoría</a:t>
            </a:r>
            <a:endParaRPr lang="en-US" sz="1250" dirty="0"/>
          </a:p>
        </p:txBody>
      </p:sp>
      <p:sp>
        <p:nvSpPr>
          <p:cNvPr id="33" name="Text 27"/>
          <p:cNvSpPr/>
          <p:nvPr/>
        </p:nvSpPr>
        <p:spPr>
          <a:xfrm>
            <a:off x="9198864" y="3657600"/>
            <a:ext cx="2148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Ausencia de registros que expone la BD a modificaciones y anulaciones fraudulentas.</a:t>
            </a:r>
            <a:endParaRPr lang="en-US" sz="1100" dirty="0"/>
          </a:p>
        </p:txBody>
      </p:sp>
      <p:sp>
        <p:nvSpPr>
          <p:cNvPr id="34" name="Shape 28"/>
          <p:cNvSpPr/>
          <p:nvPr/>
        </p:nvSpPr>
        <p:spPr>
          <a:xfrm>
            <a:off x="9198864" y="5559552"/>
            <a:ext cx="21488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9198864" y="562356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control interno SUSALUD</a:t>
            </a:r>
            <a:endParaRPr lang="en-US" sz="1100" dirty="0"/>
          </a:p>
        </p:txBody>
      </p:sp>
      <p:sp>
        <p:nvSpPr>
          <p:cNvPr id="36" name="Text 3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Finanzas-Clinic · Business Case del Proyecto</a:t>
            </a:r>
            <a:endParaRPr lang="en-US" sz="900" dirty="0"/>
          </a:p>
        </p:txBody>
      </p:sp>
      <p:sp>
        <p:nvSpPr>
          <p:cNvPr id="37" name="Text 3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JUSTIFICACIÓN DEL PROYECTO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SMART del Proyecto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621792" cy="621792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508760" y="1673352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Específico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023360" y="1673352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‘Finanzas-Clinic’ con módulos de Caja, Activos Fijos, Cuentas Corrientes/Convenios y auditoría activa con alertas Kafka.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459736"/>
            <a:ext cx="10881360" cy="0"/>
          </a:xfrm>
          <a:prstGeom prst="line">
            <a:avLst/>
          </a:prstGeom>
          <a:noFill/>
          <a:ln w="12700">
            <a:solidFill>
              <a:srgbClr val="EAE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578608"/>
            <a:ext cx="621792" cy="62179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578608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508760" y="2560320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Medible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023360" y="2560320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Reducir el arqueo diario de 120 a 15 min (87.5% de ahorro), registrar el 100% de operaciones en auditoría y recuperar el 80% de copagos en mora.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346704"/>
            <a:ext cx="10881360" cy="0"/>
          </a:xfrm>
          <a:prstGeom prst="line">
            <a:avLst/>
          </a:prstGeom>
          <a:noFill/>
          <a:ln w="12700">
            <a:solidFill>
              <a:srgbClr val="EAE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465576"/>
            <a:ext cx="621792" cy="621792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465576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508760" y="3447288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Alcanzable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023360" y="344728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con equipo interno de 3 especialistas y 1 QA, usando Spring Boot, Angular y Docker.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4233672"/>
            <a:ext cx="10881360" cy="0"/>
          </a:xfrm>
          <a:prstGeom prst="line">
            <a:avLst/>
          </a:prstGeom>
          <a:noFill/>
          <a:ln w="12700">
            <a:solidFill>
              <a:srgbClr val="EAE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4352544"/>
            <a:ext cx="621792" cy="62179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352544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508760" y="4334256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Relevante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023360" y="4334256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Alinear el software al plan estratégico: -15% en costos operativos administrativos y +25% en satisfacción del paciente.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5120640"/>
            <a:ext cx="10881360" cy="0"/>
          </a:xfrm>
          <a:prstGeom prst="line">
            <a:avLst/>
          </a:prstGeom>
          <a:noFill/>
          <a:ln w="12700">
            <a:solidFill>
              <a:srgbClr val="EAE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5239512"/>
            <a:ext cx="621792" cy="621792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5239512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1508760" y="5221224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 límite de tiempo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023360" y="5221224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Completar el ciclo de vida del subproyecto, del diagnóstico al Go-Live, en 16 semanas.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Finanzas-Clinic · Business Case del Proyecto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JUSTIFICACIÓN DEL PROYECTO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Beneficios Esperados del Subproyecto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29000" cy="4206240"/>
          </a:xfrm>
          <a:prstGeom prst="rect">
            <a:avLst/>
          </a:prstGeom>
          <a:solidFill>
            <a:srgbClr val="13315C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4884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2276856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88036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Estratégicos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3429000"/>
            <a:ext cx="28803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E4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financieros integrados para decisiones gerenciales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E4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de auditorías SUSALUD con logs inmutables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89120" y="1828800"/>
            <a:ext cx="3429000" cy="4206240"/>
          </a:xfrm>
          <a:prstGeom prst="rect">
            <a:avLst/>
          </a:prstGeom>
          <a:solidFill>
            <a:srgbClr val="13315C"/>
          </a:solidFill>
          <a:ln/>
        </p:spPr>
      </p:sp>
      <p:sp>
        <p:nvSpPr>
          <p:cNvPr id="10" name="Shape 7"/>
          <p:cNvSpPr/>
          <p:nvPr/>
        </p:nvSpPr>
        <p:spPr>
          <a:xfrm>
            <a:off x="4663440" y="214884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1456" y="2276856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63440" y="288036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Tácticos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663440" y="3429000"/>
            <a:ext cx="28803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E4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de la mora del canal de aseguradoras mediante alertas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E4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Eliminación de autorizaciones en papel vía flujos Kafka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138160" y="1828800"/>
            <a:ext cx="3429000" cy="4206240"/>
          </a:xfrm>
          <a:prstGeom prst="rect">
            <a:avLst/>
          </a:prstGeom>
          <a:solidFill>
            <a:srgbClr val="13315C"/>
          </a:solidFill>
          <a:ln/>
        </p:spPr>
      </p:sp>
      <p:sp>
        <p:nvSpPr>
          <p:cNvPr id="15" name="Shape 11"/>
          <p:cNvSpPr/>
          <p:nvPr/>
        </p:nvSpPr>
        <p:spPr>
          <a:xfrm>
            <a:off x="8412480" y="214884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0496" y="2276856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12480" y="288036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Operativos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412480" y="3429000"/>
            <a:ext cx="28803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E4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de cierres de caja y depreciación fiscal mensual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E4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Eliminación de digitación redundante y menor estrés del personal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Finanzas-Clinic · Business Case del Proyecto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ALTERNATIVAS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opciones tecnológicas evaluadas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29000" cy="4480560"/>
          </a:xfrm>
          <a:prstGeom prst="rect">
            <a:avLst/>
          </a:prstGeom>
          <a:solidFill>
            <a:srgbClr val="F4F7F8"/>
          </a:solidFill>
          <a:ln/>
          <a:effectLst>
            <a:outerShdw sx="100000" sy="100000" kx="0" ky="0" algn="bl" rotWithShape="0" blurRad="76200" dist="381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96596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 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2880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ERP Comercial de Salud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3246120"/>
            <a:ext cx="28803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Business One o similar. Robusto, pero con CAPEX de $45,000 USD en licencias y consultorías, y poca flexibilidad para integrarse al sistema legacy.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5577840"/>
            <a:ext cx="2880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5641848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$45,000 USD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389120" y="1691640"/>
            <a:ext cx="3429000" cy="4480560"/>
          </a:xfrm>
          <a:prstGeom prst="rect">
            <a:avLst/>
          </a:prstGeom>
          <a:solidFill>
            <a:srgbClr val="F4F7F8"/>
          </a:solidFill>
          <a:ln/>
          <a:effectLst>
            <a:outerShdw sx="100000" sy="100000" kx="0" ky="0" algn="bl" rotWithShape="0" blurRad="76200" dist="3810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63440" y="196596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 B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63440" y="2286000"/>
            <a:ext cx="2880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Macros Excel + Access Local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63440" y="3246120"/>
            <a:ext cx="28803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de adquisición mínimo, pero sin concurrencia real, sin logs de seguridad y con macros inestables frente al volumen de transacciones.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5577840"/>
            <a:ext cx="2880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5641848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Bajo costo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138160" y="1691640"/>
            <a:ext cx="3429000" cy="448056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152400" dist="38100" dir="54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412480" y="196596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 C · PROPUESTA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412480" y="2286000"/>
            <a:ext cx="2880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Finanzas-Clinic (Spring Boot + Angular)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412480" y="3246120"/>
            <a:ext cx="28803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AF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a medida, dockerizado, con Kafka. Personalización total, integración nativa con admisión legacy, auditoría activa y control JWT.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412480" y="5577840"/>
            <a:ext cx="288036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0" y="5641848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$19,000 USD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Finanzas-Clinic · Business Case del Proyecto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ALTERNATIVAS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Criterios de Evaluación Ponderados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640080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315200" y="1783080"/>
            <a:ext cx="420624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1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 del CAPEX inicial y OPEX acumulado a 3 años, priorizando soluciones sin licenciamientos abusivos.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1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Facilidad para programar reglas contables de seguros peruanos y copagos específicos.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1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 de integrar la admisión legacy con tokens JWT cifrados e interceptores.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1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Tolerancia al volumen de pacientes y concurrencia mediante colas asíncronas Kafka.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1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 de desarrollo e implementación dentro del plazo estricto de 16 semanas.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Finanzas-Clinic · Business Case del Proyecto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ALTERNATIVAS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Comparativa Ponderada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1005840"/>
                <a:gridCol w="2011680"/>
                <a:gridCol w="2194560"/>
                <a:gridCol w="24688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Criterio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Peso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Alt. A</a:t>
                      </a:r>
                      <a:endParaRPr lang="en-US" sz="1100" dirty="0"/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ERP Comercial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Alt. B</a:t>
                      </a:r>
                      <a:endParaRPr lang="en-US" sz="1100" dirty="0"/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Macros/Legacy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Alt. C</a:t>
                      </a:r>
                      <a:endParaRPr lang="en-US" sz="1100" dirty="0"/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Desarrollo Propio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B3A"/>
                          </a:solidFill>
                        </a:rPr>
                        <a:t>Costo Total (TCO a 3 años)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3A"/>
                          </a:solidFill>
                        </a:rPr>
                        <a:t>25%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3A"/>
                          </a:solidFill>
                        </a:rPr>
                        <a:t>2 (Alto)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3A"/>
                          </a:solidFill>
                        </a:rPr>
                        <a:t>5 (Mínimo)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B2B3A"/>
                          </a:solidFill>
                        </a:rPr>
                        <a:t>4 (Moderado)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B3A"/>
                          </a:solidFill>
                        </a:rPr>
                        <a:t>Adaptabilidad y Personalización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3A"/>
                          </a:solidFill>
                        </a:rPr>
                        <a:t>20%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3A"/>
                          </a:solidFill>
                        </a:rPr>
                        <a:t>3 (Limitada)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3A"/>
                          </a:solidFill>
                        </a:rPr>
                        <a:t>2 (Rígido)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B2B3A"/>
                          </a:solidFill>
                        </a:rPr>
                        <a:t>5 (Total)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B3A"/>
                          </a:solidFill>
                        </a:rPr>
                        <a:t>Seguridad e Integración Legacy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3A"/>
                          </a:solidFill>
                        </a:rPr>
                        <a:t>20%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3A"/>
                          </a:solidFill>
                        </a:rPr>
                        <a:t>4 (Robusto)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3A"/>
                          </a:solidFill>
                        </a:rPr>
                        <a:t>1 (Vulnerable)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B2B3A"/>
                          </a:solidFill>
                        </a:rPr>
                        <a:t>5 (JWT + Interceptor)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B3A"/>
                          </a:solidFill>
                        </a:rPr>
                        <a:t>Escalabilidad y Rendimiento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3A"/>
                          </a:solidFill>
                        </a:rPr>
                        <a:t>15%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3A"/>
                          </a:solidFill>
                        </a:rPr>
                        <a:t>4 (Robusto)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3A"/>
                          </a:solidFill>
                        </a:rPr>
                        <a:t>1 (Fallas c/volumen)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B2B3A"/>
                          </a:solidFill>
                        </a:rPr>
                        <a:t>5 (Kafka + Docker)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B3A"/>
                          </a:solidFill>
                        </a:rPr>
                        <a:t>Tiempo de Implementación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3A"/>
                          </a:solidFill>
                        </a:rPr>
                        <a:t>20%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3A"/>
                          </a:solidFill>
                        </a:rPr>
                        <a:t>3 (6 meses)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3A"/>
                          </a:solidFill>
                        </a:rPr>
                        <a:t>4 (2 meses)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B2B3A"/>
                          </a:solidFill>
                        </a:rPr>
                        <a:t>5 (4 meses)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PUNTUACIÓN TOTAL PONDERADA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100%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7D6E3"/>
                          </a:solidFill>
                        </a:rPr>
                        <a:t>3.00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7D6E3"/>
                          </a:solidFill>
                        </a:rPr>
                        <a:t>2.95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4.75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Alt. C obtiene la mayor puntuación ponderada (4.75/5), destacando en seguridad, escalabilidad y personalización.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Finanzas-Clinic · Business Case del Proyecto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DE BENEFICIOS FINANCIEROS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Beneficios Cuantificables Anuales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429000" cy="3108960"/>
          </a:xfrm>
          <a:prstGeom prst="rect">
            <a:avLst/>
          </a:prstGeom>
          <a:solidFill>
            <a:srgbClr val="F4F7F8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11680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$8,200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14400" y="2633472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/ año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301752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Ahorro por eficiencia en arqueo de cajas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14400" y="3520440"/>
            <a:ext cx="2880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del arqueo de 120 a 15 min en 5 cajas: 3,193.7 horas recuperadas al año.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0" y="1737360"/>
            <a:ext cx="3429000" cy="3108960"/>
          </a:xfrm>
          <a:prstGeom prst="rect">
            <a:avLst/>
          </a:prstGeom>
          <a:solidFill>
            <a:srgbClr val="F4F7F8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63440" y="2011680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$5,400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663440" y="2633472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/ año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63440" y="301752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Prevención de descuadres y mermas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663440" y="3520440"/>
            <a:ext cx="2880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descuadres bajan de $500 a $50 USD mensuales por sucursal gracias a la sincronización automática.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38160" y="1737360"/>
            <a:ext cx="3429000" cy="3108960"/>
          </a:xfrm>
          <a:prstGeom prst="rect">
            <a:avLst/>
          </a:prstGeom>
          <a:solidFill>
            <a:srgbClr val="F4F7F8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412480" y="2011680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$10,000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8412480" y="2633472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/ año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412480" y="301752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Recuperación de copagos corporativos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412480" y="3520440"/>
            <a:ext cx="2880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alertas de facturación evitan el vencimiento y rechazo de facturas de aseguradoras.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5074920"/>
            <a:ext cx="10881360" cy="96012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5074920"/>
            <a:ext cx="5486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Beneficios Brutos Anuales Totales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315200" y="5074920"/>
            <a:ext cx="3931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$23,600 USD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Finanzas-Clinic · Business Case del Proyecto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DE BENEFICIOS FINANCIEROS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Flujo de Caja Proyectado a 3 Años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COK (Costo de Oportunidad del Capital) = 12% anual  ·  OPEX anual = $3,500 USD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828800"/>
          <a:ext cx="649224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69480" y="1828800"/>
          <a:ext cx="43891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667512"/>
                <a:gridCol w="667512"/>
                <a:gridCol w="667512"/>
                <a:gridCol w="667512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Concepto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Año 0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Año 1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Año 2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Año 3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A"/>
                          </a:solidFill>
                        </a:rPr>
                        <a:t>Beneficios / Ahorros ($)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B3A"/>
                          </a:solidFill>
                        </a:rPr>
                        <a:t>0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B3A"/>
                          </a:solidFill>
                        </a:rPr>
                        <a:t>23,600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B3A"/>
                          </a:solidFill>
                        </a:rPr>
                        <a:t>23,600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B3A"/>
                          </a:solidFill>
                        </a:rPr>
                        <a:t>23,600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A"/>
                          </a:solidFill>
                        </a:rPr>
                        <a:t>Costos de Inversión CAPEX ($)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B3A"/>
                          </a:solidFill>
                        </a:rPr>
                        <a:t>-19,000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B3A"/>
                          </a:solidFill>
                        </a:rPr>
                        <a:t>0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B3A"/>
                          </a:solidFill>
                        </a:rPr>
                        <a:t>0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B3A"/>
                          </a:solidFill>
                        </a:rPr>
                        <a:t>0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A"/>
                          </a:solidFill>
                        </a:rPr>
                        <a:t>Costos Operativos OPEX ($)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B3A"/>
                          </a:solidFill>
                        </a:rPr>
                        <a:t>0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B3A"/>
                          </a:solidFill>
                        </a:rPr>
                        <a:t>-3,500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B3A"/>
                          </a:solidFill>
                        </a:rPr>
                        <a:t>-3,500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B3A"/>
                          </a:solidFill>
                        </a:rPr>
                        <a:t>-3,500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B2545"/>
                          </a:solidFill>
                        </a:rPr>
                        <a:t>Flujo de Caja Neto (FCN)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B2545"/>
                          </a:solidFill>
                        </a:rPr>
                        <a:t>-19,000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B2545"/>
                          </a:solidFill>
                        </a:rPr>
                        <a:t>20,100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B2545"/>
                          </a:solidFill>
                        </a:rPr>
                        <a:t>20,100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B2545"/>
                          </a:solidFill>
                        </a:rPr>
                        <a:t>20,100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B2545"/>
                          </a:solidFill>
                        </a:rPr>
                        <a:t>Flujo Neto Acumulado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B2545"/>
                          </a:solidFill>
                        </a:rPr>
                        <a:t>-19,000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B2545"/>
                          </a:solidFill>
                        </a:rPr>
                        <a:t>1,100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B2545"/>
                          </a:solidFill>
                        </a:rPr>
                        <a:t>21,200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B2545"/>
                          </a:solidFill>
                        </a:rPr>
                        <a:t>41,300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Finanzas-Clinic · Business Case del Proyecto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DE BENEFICIOS FINANCIEROS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Indicadores Financieros del Proyecto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06040" cy="4389120"/>
          </a:xfrm>
          <a:prstGeom prst="rect">
            <a:avLst/>
          </a:prstGeom>
          <a:solidFill>
            <a:srgbClr val="13315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05740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496312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$29,276.81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31520" y="3355848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Actual Neto (USD)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3977640"/>
            <a:ext cx="2240280" cy="0"/>
          </a:xfrm>
          <a:prstGeom prst="line">
            <a:avLst/>
          </a:prstGeom>
          <a:noFill/>
          <a:ln w="12700">
            <a:solidFill>
              <a:srgbClr val="2C4A7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4114800"/>
            <a:ext cx="22402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6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Positivo: recupera inversión, cubre el COK 12% y genera beneficio neto adicional.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55848" y="1783080"/>
            <a:ext cx="2606040" cy="4389120"/>
          </a:xfrm>
          <a:prstGeom prst="rect">
            <a:avLst/>
          </a:prstGeom>
          <a:solidFill>
            <a:srgbClr val="13315C"/>
          </a:solidFill>
          <a:ln/>
        </p:spPr>
      </p:sp>
      <p:sp>
        <p:nvSpPr>
          <p:cNvPr id="11" name="Text 9"/>
          <p:cNvSpPr/>
          <p:nvPr/>
        </p:nvSpPr>
        <p:spPr>
          <a:xfrm>
            <a:off x="3538728" y="205740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38728" y="2496312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87.2%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3538728" y="3355848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Interna de Retorno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538728" y="3977640"/>
            <a:ext cx="2240280" cy="0"/>
          </a:xfrm>
          <a:prstGeom prst="line">
            <a:avLst/>
          </a:prstGeom>
          <a:noFill/>
          <a:ln w="12700">
            <a:solidFill>
              <a:srgbClr val="2C4A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38728" y="4114800"/>
            <a:ext cx="22402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6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Muy superior al COK (12%): amplio margen de seguridad ante variaciones de OPEX.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63056" y="1783080"/>
            <a:ext cx="2606040" cy="4389120"/>
          </a:xfrm>
          <a:prstGeom prst="rect">
            <a:avLst/>
          </a:prstGeom>
          <a:solidFill>
            <a:srgbClr val="13315C"/>
          </a:solidFill>
          <a:ln/>
        </p:spPr>
      </p:sp>
      <p:sp>
        <p:nvSpPr>
          <p:cNvPr id="17" name="Text 15"/>
          <p:cNvSpPr/>
          <p:nvPr/>
        </p:nvSpPr>
        <p:spPr>
          <a:xfrm>
            <a:off x="6345936" y="205740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45936" y="2496312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11.3 meses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6345936" y="3355848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Periodo de Recupero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45936" y="3977640"/>
            <a:ext cx="2240280" cy="0"/>
          </a:xfrm>
          <a:prstGeom prst="line">
            <a:avLst/>
          </a:prstGeom>
          <a:noFill/>
          <a:ln w="12700">
            <a:solidFill>
              <a:srgbClr val="2C4A7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45936" y="4114800"/>
            <a:ext cx="22402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6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inversión se recupera antes de finalizar el primer año de operación.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970264" y="1783080"/>
            <a:ext cx="2606040" cy="4389120"/>
          </a:xfrm>
          <a:prstGeom prst="rect">
            <a:avLst/>
          </a:prstGeom>
          <a:solidFill>
            <a:srgbClr val="13315C"/>
          </a:solidFill>
          <a:ln/>
        </p:spPr>
      </p:sp>
      <p:sp>
        <p:nvSpPr>
          <p:cNvPr id="23" name="Text 21"/>
          <p:cNvSpPr/>
          <p:nvPr/>
        </p:nvSpPr>
        <p:spPr>
          <a:xfrm>
            <a:off x="9153144" y="205740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B/C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153144" y="2496312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2.07</a:t>
            </a:r>
            <a:endParaRPr lang="en-US" sz="2700" dirty="0"/>
          </a:p>
        </p:txBody>
      </p:sp>
      <p:sp>
        <p:nvSpPr>
          <p:cNvPr id="25" name="Text 23"/>
          <p:cNvSpPr/>
          <p:nvPr/>
        </p:nvSpPr>
        <p:spPr>
          <a:xfrm>
            <a:off x="9153144" y="3355848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Beneficio / Costo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153144" y="3977640"/>
            <a:ext cx="2240280" cy="0"/>
          </a:xfrm>
          <a:prstGeom prst="line">
            <a:avLst/>
          </a:prstGeom>
          <a:noFill/>
          <a:ln w="12700">
            <a:solidFill>
              <a:srgbClr val="2C4A7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53144" y="4114800"/>
            <a:ext cx="22402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6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cada $1 USD invertido, la clínica obtiene $2.07 USD de retorno.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Finanzas-Clinic · Business Case del Proyecto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ESTIMACIÓN DE COSTOS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Presupuesto de Inversión Inicial (CAPEX)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6949440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2286000"/>
                <a:gridCol w="2011680"/>
                <a:gridCol w="1051560"/>
                <a:gridCol w="822960"/>
              </a:tblGrid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Cód.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Concepto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Recurso / Rol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Esfuerzo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Costo (USD)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3A"/>
                          </a:solidFill>
                        </a:rPr>
                        <a:t>C-01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3A"/>
                          </a:solidFill>
                        </a:rPr>
                        <a:t>Dirección de TI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3A"/>
                          </a:solidFill>
                        </a:rPr>
                        <a:t>Líder Técnico / Arquitecto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3A"/>
                          </a:solidFill>
                        </a:rPr>
                        <a:t>160 h ($25/h)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B2545"/>
                          </a:solidFill>
                        </a:rPr>
                        <a:t>$4,000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3A"/>
                          </a:solidFill>
                        </a:rPr>
                        <a:t>C-02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3A"/>
                          </a:solidFill>
                        </a:rPr>
                        <a:t>Desarrollo Backend Java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3A"/>
                          </a:solidFill>
                        </a:rPr>
                        <a:t>Dev. Spring Boot Experto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3A"/>
                          </a:solidFill>
                        </a:rPr>
                        <a:t>300 h ($20/h)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B2545"/>
                          </a:solidFill>
                        </a:rPr>
                        <a:t>$6,000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3A"/>
                          </a:solidFill>
                        </a:rPr>
                        <a:t>C-03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3A"/>
                          </a:solidFill>
                        </a:rPr>
                        <a:t>Desarrollo Frontend Angular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3A"/>
                          </a:solidFill>
                        </a:rPr>
                        <a:t>Dev. Angular / Tailwind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3A"/>
                          </a:solidFill>
                        </a:rPr>
                        <a:t>250 h ($20/h)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B2545"/>
                          </a:solidFill>
                        </a:rPr>
                        <a:t>$5,000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3A"/>
                          </a:solidFill>
                        </a:rPr>
                        <a:t>C-04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3A"/>
                          </a:solidFill>
                        </a:rPr>
                        <a:t>Aseguramiento de Calidad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3A"/>
                          </a:solidFill>
                        </a:rPr>
                        <a:t>Analista QA Funcional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3A"/>
                          </a:solidFill>
                        </a:rPr>
                        <a:t>166 h ($15/h)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B2545"/>
                          </a:solidFill>
                        </a:rPr>
                        <a:t>$2,500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3A"/>
                          </a:solidFill>
                        </a:rPr>
                        <a:t>C-05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3A"/>
                          </a:solidFill>
                        </a:rPr>
                        <a:t>Infraestructura de Desarrollo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3A"/>
                          </a:solidFill>
                        </a:rPr>
                        <a:t>Servidor SQLite y red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3A"/>
                          </a:solidFill>
                        </a:rPr>
                        <a:t>Monto fijo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B2545"/>
                          </a:solidFill>
                        </a:rPr>
                        <a:t>$500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3A"/>
                          </a:solidFill>
                        </a:rPr>
                        <a:t>C-06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3A"/>
                          </a:solidFill>
                        </a:rPr>
                        <a:t>Licencia e Integraciones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3A"/>
                          </a:solidFill>
                        </a:rPr>
                        <a:t>API Facturador PSE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3A"/>
                          </a:solidFill>
                        </a:rPr>
                        <a:t>Licencia inicial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B2545"/>
                          </a:solidFill>
                        </a:rPr>
                        <a:t>$1,000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 gridSpan="4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Inversión Total Autorizada (CAPEX)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$19,000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Chart 0" descr=""/>
          <p:cNvGraphicFramePr/>
          <p:nvPr/>
        </p:nvGraphicFramePr>
        <p:xfrm>
          <a:off x="7772400" y="1600200"/>
          <a:ext cx="38404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Finanzas-Clinic · Business Case del Proyecto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ESTIMACIÓN DE COSTOS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Presupuesto Operativo y Mantenimiento (OPEX)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36192"/>
            <a:ext cx="603504" cy="603504"/>
          </a:xfrm>
          <a:prstGeom prst="ellipse">
            <a:avLst/>
          </a:prstGeom>
          <a:solidFill>
            <a:srgbClr val="F4F7F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1691640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46304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O-01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057400" y="146304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Infraestructura Nube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212080" y="146304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Servidores EC2 AWS, RDS y Cloud Kafka.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9875520" y="146304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$1,200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40080" y="2249424"/>
            <a:ext cx="10607040" cy="0"/>
          </a:xfrm>
          <a:prstGeom prst="line">
            <a:avLst/>
          </a:prstGeom>
          <a:noFill/>
          <a:ln w="12700">
            <a:solidFill>
              <a:srgbClr val="EAEFF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0080" y="2432304"/>
            <a:ext cx="603504" cy="603504"/>
          </a:xfrm>
          <a:prstGeom prst="ellipse">
            <a:avLst/>
          </a:prstGeom>
          <a:solidFill>
            <a:srgbClr val="F4F7F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2587752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17320" y="2359152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O-02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2057400" y="2359152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Soporte Técnico Correctivo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212080" y="2359152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ante incidentes en cajas (10% del CAPEX).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9875520" y="2359152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$1,900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40080" y="3145536"/>
            <a:ext cx="10607040" cy="0"/>
          </a:xfrm>
          <a:prstGeom prst="line">
            <a:avLst/>
          </a:prstGeom>
          <a:noFill/>
          <a:ln w="12700">
            <a:solidFill>
              <a:srgbClr val="EAEFF2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40080" y="3328416"/>
            <a:ext cx="603504" cy="603504"/>
          </a:xfrm>
          <a:prstGeom prst="ellipse">
            <a:avLst/>
          </a:prstGeom>
          <a:solidFill>
            <a:srgbClr val="F4F7F8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3483864"/>
            <a:ext cx="292608" cy="29260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417320" y="3255264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O-03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2057400" y="3255264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Conectividad y Backups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5212080" y="3255264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Copias de seguridad automáticas diarias S3 y red local.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9875520" y="3255264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$400</a:t>
            </a:r>
            <a:endParaRPr lang="en-US" sz="1600" dirty="0"/>
          </a:p>
        </p:txBody>
      </p:sp>
      <p:sp>
        <p:nvSpPr>
          <p:cNvPr id="24" name="Shape 19"/>
          <p:cNvSpPr/>
          <p:nvPr/>
        </p:nvSpPr>
        <p:spPr>
          <a:xfrm>
            <a:off x="640080" y="4041648"/>
            <a:ext cx="10607040" cy="0"/>
          </a:xfrm>
          <a:prstGeom prst="line">
            <a:avLst/>
          </a:prstGeom>
          <a:noFill/>
          <a:ln w="12700">
            <a:solidFill>
              <a:srgbClr val="EAEFF2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640080" y="4224528"/>
            <a:ext cx="603504" cy="603504"/>
          </a:xfrm>
          <a:prstGeom prst="ellipse">
            <a:avLst/>
          </a:prstGeom>
          <a:solidFill>
            <a:srgbClr val="F4F7F8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" y="4379976"/>
            <a:ext cx="292608" cy="29260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417320" y="4151376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O-04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2057400" y="4151376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Actualización Regulatoria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5212080" y="4151376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Ajustes anuales a parámetros tributarios SUNAT.</a:t>
            </a:r>
            <a:endParaRPr lang="en-US" sz="1150" dirty="0"/>
          </a:p>
        </p:txBody>
      </p:sp>
      <p:sp>
        <p:nvSpPr>
          <p:cNvPr id="30" name="Text 24"/>
          <p:cNvSpPr/>
          <p:nvPr/>
        </p:nvSpPr>
        <p:spPr>
          <a:xfrm>
            <a:off x="9875520" y="4151376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Incluido</a:t>
            </a:r>
            <a:endParaRPr lang="en-US" sz="1600" dirty="0"/>
          </a:p>
        </p:txBody>
      </p:sp>
      <p:sp>
        <p:nvSpPr>
          <p:cNvPr id="31" name="Shape 25"/>
          <p:cNvSpPr/>
          <p:nvPr/>
        </p:nvSpPr>
        <p:spPr>
          <a:xfrm>
            <a:off x="640080" y="5184648"/>
            <a:ext cx="10607040" cy="77724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2" name="Text 26"/>
          <p:cNvSpPr/>
          <p:nvPr/>
        </p:nvSpPr>
        <p:spPr>
          <a:xfrm>
            <a:off x="914400" y="5184648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 Operativo Total Anual (OPEX)</a:t>
            </a:r>
            <a:endParaRPr lang="en-US" sz="1400" dirty="0"/>
          </a:p>
        </p:txBody>
      </p:sp>
      <p:sp>
        <p:nvSpPr>
          <p:cNvPr id="33" name="Text 27"/>
          <p:cNvSpPr/>
          <p:nvPr/>
        </p:nvSpPr>
        <p:spPr>
          <a:xfrm>
            <a:off x="7315200" y="5184648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$3,500 USD</a:t>
            </a:r>
            <a:endParaRPr lang="en-US" sz="2400" dirty="0"/>
          </a:p>
        </p:txBody>
      </p:sp>
      <p:sp>
        <p:nvSpPr>
          <p:cNvPr id="34" name="Text 2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Finanzas-Clinic · Business Case del Proyecto</a:t>
            </a:r>
            <a:endParaRPr lang="en-US" sz="900" dirty="0"/>
          </a:p>
        </p:txBody>
      </p:sp>
      <p:sp>
        <p:nvSpPr>
          <p:cNvPr id="35" name="Text 2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GESTIÓN DE RIESGOS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Riesgos Prioritarios y Mitigación</a:t>
            </a:r>
            <a:endParaRPr lang="en-US" sz="3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3931920"/>
                <a:gridCol w="1554480"/>
                <a:gridCol w="3566160"/>
                <a:gridCol w="1097280"/>
              </a:tblGrid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Código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Riesgo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Severidad Inicial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Estrategia de Mitigación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Severidad Post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A"/>
                          </a:solidFill>
                        </a:rPr>
                        <a:t>R-02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A"/>
                          </a:solidFill>
                        </a:rPr>
                        <a:t>Retraso en la API de facturas SUNAT externa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</a:rPr>
                        <a:t>12 (Alto)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A"/>
                          </a:solidFill>
                        </a:rPr>
                        <a:t>Coordinar sandbox temprano y simular la API localmente.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2C39A"/>
                          </a:solidFill>
                        </a:rPr>
                        <a:t>6 (Bajo)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A"/>
                          </a:solidFill>
                        </a:rPr>
                        <a:t>R-03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A"/>
                          </a:solidFill>
                        </a:rPr>
                        <a:t>Acceso no autorizado a la base de datos de cajas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</a:rPr>
                        <a:t>10 (Alto)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A"/>
                          </a:solidFill>
                        </a:rPr>
                        <a:t>Autenticación JWT cifrada con firma y expiración.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2C39A"/>
                          </a:solidFill>
                        </a:rPr>
                        <a:t>5 (Bajo)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A"/>
                          </a:solidFill>
                        </a:rPr>
                        <a:t>R-04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A"/>
                          </a:solidFill>
                        </a:rPr>
                        <a:t>Resistencia de cajeros a migrar de Excel al sistema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</a:rPr>
                        <a:t>12 (Alto)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A"/>
                          </a:solidFill>
                        </a:rPr>
                        <a:t>Talleres prácticos guiados de usabilidad.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2C39A"/>
                          </a:solidFill>
                        </a:rPr>
                        <a:t>6 (Bajo)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A"/>
                          </a:solidFill>
                        </a:rPr>
                        <a:t>R-01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A"/>
                          </a:solidFill>
                        </a:rPr>
                        <a:t>Desviación del alcance del proyecto contable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</a:rPr>
                        <a:t>9 (Med)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A"/>
                          </a:solidFill>
                        </a:rPr>
                        <a:t>Acta de Constitución estricta y control de cambios formal.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2C39A"/>
                          </a:solidFill>
                        </a:rPr>
                        <a:t>3 (Bajo)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A"/>
                          </a:solidFill>
                        </a:rPr>
                        <a:t>R-06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A"/>
                          </a:solidFill>
                        </a:rPr>
                        <a:t>Errores en el cálculo de depreciación lineal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</a:rPr>
                        <a:t>8 (Med)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A"/>
                          </a:solidFill>
                        </a:rPr>
                        <a:t>Auditar fórmulas matemáticas junto con contabilidad.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2C39A"/>
                          </a:solidFill>
                        </a:rPr>
                        <a:t>4 (Bajo)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identificaron 10 riesgos totales; se muestran los de mayor severidad inicial. Todos reducen su severidad tras la mitigación.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Finanzas-Clinic · Business Case del Proyecto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5029200" cy="5029200"/>
          </a:xfrm>
          <a:prstGeom prst="ellipse">
            <a:avLst/>
          </a:prstGeom>
          <a:solidFill>
            <a:srgbClr val="02809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Viabilidad Confirmada del Business Case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6400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6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análisis ratifica la viabilidad de implementar Finanzas-Clinic en la Clínica Médica Unión. El desarrollo a medida es la solución óptima frente al software comercial cerrado, ofreciendo personalización a costo sostenible.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3291840"/>
            <a:ext cx="1508760" cy="1051560"/>
          </a:xfrm>
          <a:prstGeom prst="rect">
            <a:avLst/>
          </a:prstGeom>
          <a:solidFill>
            <a:srgbClr val="13315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401568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$29,276.81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913632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286000" y="3291840"/>
            <a:ext cx="1508760" cy="1051560"/>
          </a:xfrm>
          <a:prstGeom prst="rect">
            <a:avLst/>
          </a:prstGeom>
          <a:solidFill>
            <a:srgbClr val="13315C"/>
          </a:solidFill>
          <a:ln/>
        </p:spPr>
      </p:sp>
      <p:sp>
        <p:nvSpPr>
          <p:cNvPr id="10" name="Text 8"/>
          <p:cNvSpPr/>
          <p:nvPr/>
        </p:nvSpPr>
        <p:spPr>
          <a:xfrm>
            <a:off x="2286000" y="3401568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87.2%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286000" y="3913632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931920" y="3291840"/>
            <a:ext cx="1508760" cy="1051560"/>
          </a:xfrm>
          <a:prstGeom prst="rect">
            <a:avLst/>
          </a:prstGeom>
          <a:solidFill>
            <a:srgbClr val="13315C"/>
          </a:solidFill>
          <a:ln/>
        </p:spPr>
      </p:sp>
      <p:sp>
        <p:nvSpPr>
          <p:cNvPr id="13" name="Text 11"/>
          <p:cNvSpPr/>
          <p:nvPr/>
        </p:nvSpPr>
        <p:spPr>
          <a:xfrm>
            <a:off x="3931920" y="3401568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11.3 meses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931920" y="3913632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577840" y="3291840"/>
            <a:ext cx="1508760" cy="1051560"/>
          </a:xfrm>
          <a:prstGeom prst="rect">
            <a:avLst/>
          </a:prstGeom>
          <a:solidFill>
            <a:srgbClr val="13315C"/>
          </a:solidFill>
          <a:ln/>
        </p:spPr>
      </p:sp>
      <p:sp>
        <p:nvSpPr>
          <p:cNvPr id="16" name="Text 14"/>
          <p:cNvSpPr/>
          <p:nvPr/>
        </p:nvSpPr>
        <p:spPr>
          <a:xfrm>
            <a:off x="5577840" y="3401568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2.07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577840" y="3913632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B/C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0080" y="4617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Recomendación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502920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D6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Iniciar la fase de ejecución del proyecto y establecer un comité de seguimiento mensual de costos y riesgos.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406640" y="1691640"/>
            <a:ext cx="4114800" cy="4206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1" name="Shape 19"/>
          <p:cNvSpPr/>
          <p:nvPr/>
        </p:nvSpPr>
        <p:spPr>
          <a:xfrm>
            <a:off x="7680960" y="1965960"/>
            <a:ext cx="640080" cy="640080"/>
          </a:xfrm>
          <a:prstGeom prst="ellipse">
            <a:avLst/>
          </a:prstGeom>
          <a:solidFill>
            <a:srgbClr val="02A085"/>
          </a:solidFill>
          <a:ln/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47381" y="2132381"/>
            <a:ext cx="307238" cy="307238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7680960" y="274320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AF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Recuperación total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AF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inversión en el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7680960" y="342900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 11.3</a:t>
            </a:r>
            <a:endParaRPr lang="en-US" sz="4000" dirty="0"/>
          </a:p>
        </p:txBody>
      </p:sp>
      <p:sp>
        <p:nvSpPr>
          <p:cNvPr id="25" name="Text 22"/>
          <p:cNvSpPr/>
          <p:nvPr/>
        </p:nvSpPr>
        <p:spPr>
          <a:xfrm>
            <a:off x="7680960" y="443484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AF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finalizar el primer año de Go-Live, con un retorno de $2.07 USD por cada dólar invertido.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40080" y="6263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 · Preguntas y Comentarios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Case - Finanzas-Clinic</dc:title>
  <dc:subject>PptxGenJS Presentation</dc:subject>
  <dc:creator>Condori Pachauri Omar, Flores Llanque Mery Elizabeth, Huahuaccapa Ccama Jaqueline</dc:creator>
  <cp:lastModifiedBy>Condori Pachauri Omar, Flores Llanque Mery Elizabeth, Huahuaccapa Ccama Jaqueline</cp:lastModifiedBy>
  <cp:revision>1</cp:revision>
  <dcterms:created xsi:type="dcterms:W3CDTF">2026-07-07T04:21:14Z</dcterms:created>
  <dcterms:modified xsi:type="dcterms:W3CDTF">2026-07-07T04:21:14Z</dcterms:modified>
</cp:coreProperties>
</file>