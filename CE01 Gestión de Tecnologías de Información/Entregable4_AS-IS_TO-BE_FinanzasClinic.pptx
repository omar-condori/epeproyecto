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754880" cy="4754880"/>
          </a:xfrm>
          <a:prstGeom prst="ellipse">
            <a:avLst/>
          </a:prstGeom>
          <a:solidFill>
            <a:srgbClr val="0F4C68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y Arquitectura · Escuela Profesional de Ingeniería de Sistemas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de Procesos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AS-IS / TO-BE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658368" y="3520440"/>
            <a:ext cx="50292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03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4 · Evidencia de la competencia CE011: Gobierno e Innovación de TI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Subproyecto: Sistema de Gestión Financiera y Administrativa “Finanzas-Clinic”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estudio: Clínica Médica Unión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5669280" cy="18288"/>
          </a:xfrm>
          <a:prstGeom prst="rect">
            <a:avLst/>
          </a:prstGeom>
          <a:solidFill>
            <a:srgbClr val="3E6E8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52578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 Omar  ·  Flores Llanque Mery Elizabeth  ·  Huahuaccapa Ccama Jaqueline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Juliaca, Perú ·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0B33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recorrido por el rediseño integral de procesos financieros de la clínica.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43400" y="685800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303520" y="685800"/>
            <a:ext cx="6309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BPR/BPM y notación BPMN 2.0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764792"/>
            <a:ext cx="7269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764792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303520" y="1764792"/>
            <a:ext cx="6309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actuales AS-IS: cajas, activos y convenios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2843784"/>
            <a:ext cx="7269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843784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303520" y="2843784"/>
            <a:ext cx="6309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propuestos TO-BE con Finanzas-Clinic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43400" y="3922776"/>
            <a:ext cx="7269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3922776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303520" y="3922776"/>
            <a:ext cx="6309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 y eficiencia cuantificada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43400" y="5001768"/>
            <a:ext cx="7269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5001768"/>
            <a:ext cx="914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303520" y="5001768"/>
            <a:ext cx="6309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recomendaciones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Integral de TI para la Transformación Organizacional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 Médica Unión — caso de estudio del rediseño de procesos financieros y administrativos.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7452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344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“Finanzas-Clinic”: Spring Boot, Angular, autenticación JWT y mensajería Kafka.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0" y="16002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503920" y="29260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CE011: Gobierno e Innovación de TI — Entregable 4, Modelado de Procesos AS-IS / TO-BE.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0B3350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437083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entregable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8680" y="4681728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bajo notación BPMN 2.0 los procesos actuales (AS-IS) de cajas, activos fijos y convenios corporativos, y contrastarlos con los procesos rediseñados (TO-BE) que la plataforma Finanzas-Clinic habilita, cuantificando el impacto en tiempos, costos y calidad de servicio.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Reingeniería de Procesos (BPR) en Salud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Reingeniería de Procesos de Negocio (BPR)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por Michael Hammer y James Champy, plantea el rediseño radical de los procesos de negocio para lograr mejoras espectaculares en costo, calidad, servicio y rapidez.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Clínica Médica Unión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trata de mejoras incrementales ni de “parchar” con macros de Excel, sino de rediseñar por completo el flujo informático, unificando admisión y cobro para eliminar la doble digitación e introducir control interno automatizado.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937760" cy="4343400"/>
          </a:xfrm>
          <a:prstGeom prst="roundRect">
            <a:avLst>
              <a:gd name="adj" fmla="val 1684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745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19202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BPM: mejora continua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040880" y="2514600"/>
            <a:ext cx="4343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Procesos de Negocio (BPM) complementa la BPR proveyendo un ciclo de vida estructurado de mejora continua: modelar, ejecutar, monitorear y optimizar.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040880" y="3794760"/>
            <a:ext cx="4343400" cy="0"/>
          </a:xfrm>
          <a:prstGeom prst="line">
            <a:avLst/>
          </a:prstGeom>
          <a:noFill/>
          <a:ln w="12700">
            <a:solidFill>
              <a:srgbClr val="CBD8D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9776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4023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Estándar BPMN 2.0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040880" y="457200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adopta el estándar Business Process Model and Notation (BPMN 2.0) para graficar de forma unificada los procesos AS-IS y TO-BE de la clínica.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BPMN 2.0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Notación de Modelado de Procesos (1 de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/ Piscina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 la frontera del proceso para una organización completa (Clínica Médica Unión).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9842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91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/ Carril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32320" y="20116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Subdivisión del Pool que asigna tareas a un departamento o actor (Cajeros, Contabilidad, TI).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43784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0998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2783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9352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Inicio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325526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 del flujo, disparado por un evento (arribo de paciente, fin de mes).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843784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8232" y="30998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2278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29352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Fin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0" y="325526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del proceso y guardado definitivo de los estados financieros en base de datos.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087368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4343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47141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17880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Usuario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17320" y="449884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manual interactiva mediante interfaz de software (pantalla Angular de Finanzas-Clinic).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4087368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30" name="Shape 23"/>
          <p:cNvSpPr/>
          <p:nvPr/>
        </p:nvSpPr>
        <p:spPr>
          <a:xfrm>
            <a:off x="6428232" y="4343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47141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17880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Servicio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32320" y="449884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automática de backend (APIs Spring Boot, interceptor de auditoría JPA).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330952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35" name="Shape 27"/>
          <p:cNvSpPr/>
          <p:nvPr/>
        </p:nvSpPr>
        <p:spPr>
          <a:xfrm>
            <a:off x="713232" y="55869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715000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54223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Recepción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417320" y="5742432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un mensaje externo asíncrono (consumo de eventos del tópico Kafka).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263640" y="5330952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40" name="Shape 31"/>
          <p:cNvSpPr/>
          <p:nvPr/>
        </p:nvSpPr>
        <p:spPr>
          <a:xfrm>
            <a:off x="6428232" y="55869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5715000"/>
            <a:ext cx="310896" cy="31089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32320" y="54223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de Envío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7132320" y="5742432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un mensaje de evento (productor Kafka notificando aprobación de descuento).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 BPMN 2.0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Notación de Modelado de Procesos (2 de 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56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Compuerta Exclusiva (X)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Bifurcación que obliga a seguir un único camino según condiciones excluyentes.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28232" y="185623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9842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6916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Compuerta Paralela (+)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132320" y="2011680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Bifurcación que inicia múltiples caminos simultáneos de flujo.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843784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0998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2783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29352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Secuencia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17320" y="325526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 sólida que muestra el orden exacto de ejecución dentro del carril.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843784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28232" y="30998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322783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2935224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Mensaje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132320" y="3255264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punteada que muestra el intercambio de información entre participantes.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087368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25" name="Shape 19"/>
          <p:cNvSpPr/>
          <p:nvPr/>
        </p:nvSpPr>
        <p:spPr>
          <a:xfrm>
            <a:off x="713232" y="4343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471416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17880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de Datos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417320" y="449884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física o digital que el proceso requiere o genera (boleta XML firmada).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4087368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30" name="Shape 23"/>
          <p:cNvSpPr/>
          <p:nvPr/>
        </p:nvSpPr>
        <p:spPr>
          <a:xfrm>
            <a:off x="6428232" y="43434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4471416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178808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 de Datos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132320" y="4498848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 donde el proceso persiste información de forma inmutable (BD SQLite/MySQL).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330952"/>
            <a:ext cx="5349240" cy="1078992"/>
          </a:xfrm>
          <a:prstGeom prst="roundRect">
            <a:avLst>
              <a:gd name="adj" fmla="val 5932"/>
            </a:avLst>
          </a:prstGeom>
          <a:solidFill>
            <a:srgbClr val="E9F2F5"/>
          </a:solidFill>
          <a:ln/>
        </p:spPr>
      </p:sp>
      <p:sp>
        <p:nvSpPr>
          <p:cNvPr id="35" name="Shape 27"/>
          <p:cNvSpPr/>
          <p:nvPr/>
        </p:nvSpPr>
        <p:spPr>
          <a:xfrm>
            <a:off x="713232" y="55869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715000"/>
            <a:ext cx="310896" cy="31089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542239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Subproceso Colapsado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1417320" y="5742432"/>
            <a:ext cx="4297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compleja con flujo detallado interno, representado con el símbolo [+].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F4C68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del Proceso AS-IS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63040" y="39776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análisis minucioso de los tres subprocesos financieros operados hoy de forma manual, evidenciando brechas de control, tiempo y seguridad.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AS-IS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1: Apertura, Cobro y Arqueo de Cajas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46304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cajero digita manualmente el saldo inicial en Excel, transcribe cada boleta física en Excel y por separado en el portal del PSE, y al cierre cuenta billetes y monedas para comparar contra el saldo calculado.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B335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337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operativo total en 15 pasos manuales, más hasta 2 horas adicionales si hay descuadre.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min / caja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044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Ineficiencias clave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20440" y="3566160"/>
            <a:ext cx="2697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digitación manual con 15% de tasa de error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Excel local desprotegido, sin control de versión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manual de boletas ante descuadres: 60 min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alertas automáticas de diferencias de caja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060962" y="1325880"/>
            <a:ext cx="571651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images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122" y="1463040"/>
            <a:ext cx="5442190" cy="47091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PASO A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1 · Apertura, Cobro y Arqueo de Cajas (AS-IS)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4846320"/>
                <a:gridCol w="1005840"/>
                <a:gridCol w="33832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Actor / Rol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Acción ejecutada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Duración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Ineficiencia / brecha identificada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Abre archivo Excel local de cuadre de cajas.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Archivo desprotegido, sin control de versión.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Digita el saldo de apertura física de caja.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Vulnerable ante alteración del saldo de inicio.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Paciente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Arriba a caja con orden de admisión impresa.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Paso físico con riesgo de pérdida de papeles.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Revisa manualmente la boleta y código de servicio.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Posible error en la lectura visual del código.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Digita datos del paciente y montos en Excel local.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Doble digitación manual, tasa de error del 15%.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Abre navegador y se loguea en portal del PSE.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Login manual sin tokens centralizados.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Re-digita datos del paciente y servicio en PSE.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Silos de información desintegrados.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Confirma emisión y espera firma del comprobante XML.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Lentitud de conexión externa del PSE.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Imprime comprobante físico y cobra efectivo.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Consumo excesivo de papel e insumos.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Registra número de boleta y cobro en Excel local.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Digitación redundante propensa a errores.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Inicia recuento físico de billetes y monedas.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Proceso manual lento expuesto a errores de conteo.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Calcula sumatoria total en hoja de Excel.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Errores en fórmulas o celdas desalineadas.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Compara saldo físico vs saldo en Excel.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Sin alertas automáticas de descuadres.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Busca y valida boletas físicas una a una ante descuadres.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Cuello de botella de auditoría manual.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Guarda el Excel local y envía reporte por email.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Falta de base de datos contable centralizada.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AS-IS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2: Depreciación de Activos Fijos y Control Logístico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46304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registra activos en cuadernos o Excel sin códigos de barras. Al cierre de mes, el contador solicita la lista por correo y calcula manualmente la depreciación lineal, a menudo omitiendo activos dados de baja.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B335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337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 de comunicación logística-contabilidad (1 día) más ~4.5 horas de cálculo y consolidación manual.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día + 4h30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044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Ineficiencias clave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20440" y="3566160"/>
            <a:ext cx="2697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códigos de barras: descontrol físico de activos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firma digital ni traza histórica de responsables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manual omite activos dados de baja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Descuadres fiscales en la declaración ante SUNAT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016752" y="1325880"/>
            <a:ext cx="5760720" cy="2800812"/>
          </a:xfrm>
          <a:prstGeom prst="roundRect">
            <a:avLst>
              <a:gd name="adj" fmla="val 19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images/image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463040"/>
            <a:ext cx="5486400" cy="25264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PASO A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2 · Depreciación de Activos Fijos y Control Logístico (AS-IS)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4937760"/>
                <a:gridCol w="100584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Actor / Rol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Acción ejecutada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Duración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Ineficiencia / brecha identificada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Logístico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Registra compra de equipo en Excel de almacén.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Sin códigos de barras, descontrol físico.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Logístico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Asigna responsable de activo mediante correo.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Sin firma digital ni traza histórica.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Logístico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Archiva factura física de compra de activo.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Riesgo de pérdida de sustento contable.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Solicita por correo la lista actualizada de activos.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 día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Espera por comunicación ineficiente.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Logístico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Consolida y envía archivo Excel de activos.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 horas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Falta de actualización de ubicación en tiempo real.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Abre plantilla Excel contable de depreciación.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Proceso manual desvinculado de logística.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Digita nuevos activos y montos en Excel.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Riesgo de error de transcripción de montos.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Calcula depreciación lineal aplicando fórmulas manuales.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 horas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Error en cálculo por activos dados de baja.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Registra asiento de depreciación manual en balance.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Sin auditoría ni trazabilidad de cambios.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Archiva reporte Excel de depreciación del mes.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Sin base de datos histórica inmutable.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AS-IS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3: Cobro y Conciliación de Convenios Corporativos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463040"/>
            <a:ext cx="50749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registra el copago en papel y la boleta se archiva físicamente. Mensualmente, el asistente contable arma un reporte manual en Excel y lo envía por correo al seguro para su cobro.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0B335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3337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Pérdidas anuales por facturas vencidas rechazadas, al no existir alertas de facturación oportunas.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USD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0440" y="3246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Ineficiencias clave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520440" y="3566160"/>
            <a:ext cx="26974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física del archivador: 2 días al cierre de mes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digitación manual de montos de copagos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conciliación del seguro: hasta 5 días</a:t>
            </a:r>
            <a:endParaRPr lang="en-US" sz="108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 de facturas en mora (&gt; 30 días)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016752" y="1325880"/>
            <a:ext cx="5760720" cy="4627537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2" name="Image 1" descr="images/image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463040"/>
            <a:ext cx="5486400" cy="435321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PASO A PASO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3 · Cobro y Conciliación de Convenios Corporativos (AS-IS)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371600"/>
                <a:gridCol w="4937760"/>
                <a:gridCol w="1005840"/>
                <a:gridCol w="32918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Actor / Rol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Acción ejecutada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Duración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Ineficiencia / brecha identificada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Admisión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Recibe datos del paciente asegurado.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Paso físico con riesgo de error.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Admisión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Valida cobertura en portal externo de la aseguradora.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Lentitud por accesos individuales.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Admisión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Escribe copago a cobrar en la orden física.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Escritura manual, montos ilegibles.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Registra cobro de copago y entrega boleta física.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Sin sincronización con la aseguradora.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Archiva copia física de la boleta de seguros.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Riesgo de pérdida física de comprobantes.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Asistente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Revisa archivador físico al final de mes.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 días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Ineficiencia extrema por búsqueda manual.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Asistente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Digita facturas de copagos acumulados en Excel.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3 horas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Doble digitación manual de montos.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Asistente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Envía planilla Excel al seguro por correo.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15 min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Falta de canal EDI o API de cobros.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Seguro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Audita y concilia planilla Excel enviada.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 días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Retraso en el procesamiento del pago.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Seguro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Rechaza facturas en mora de cobro (&gt;30 días).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 día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Pérdida financiera neta de copagos vencidos.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F4C68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606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de Procesos TO-BE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463040" y="39776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rediseño de los tres subprocesos mediante la plataforma “Finanzas-Clinic”: Spring Boot, Angular, JWT y mensajería Kafka.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FINANZAS-CLINIC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Tecnológica del Rediseño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rediseñan los procesos contables optimizándolos mediante la implementación de la plataforma web “Finanzas-Clinic”, con autenticación segura e integración asíncrona de eventos.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2606040"/>
            <a:ext cx="777240" cy="777240"/>
          </a:xfrm>
          <a:prstGeom prst="ellipse">
            <a:avLst/>
          </a:prstGeom>
          <a:solidFill>
            <a:srgbClr val="0B33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279806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que emiten boletas electrónicas sincronizadas al PSE y ejecutan procesos batch de depreciación.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19856" y="2331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57116" y="2606040"/>
            <a:ext cx="777240" cy="777240"/>
          </a:xfrm>
          <a:prstGeom prst="ellipse">
            <a:avLst/>
          </a:prstGeom>
          <a:solidFill>
            <a:srgbClr val="0B335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2798064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57016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02736" y="3931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web para cajeros, contadores y logística: cobro, arqueo en un clic y gestión de activos.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91072" y="2331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28332" y="2606040"/>
            <a:ext cx="777240" cy="777240"/>
          </a:xfrm>
          <a:prstGeom prst="ellipse">
            <a:avLst/>
          </a:prstGeom>
          <a:solidFill>
            <a:srgbClr val="0B33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212" y="2798064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8232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3931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basada en roles con firma encriptada, previniendo alteraciones malintencionadas en base de datos.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62288" y="233172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99548" y="2606040"/>
            <a:ext cx="777240" cy="777240"/>
          </a:xfrm>
          <a:prstGeom prst="ellipse">
            <a:avLst/>
          </a:prstGeom>
          <a:solidFill>
            <a:srgbClr val="0B335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2428" y="2798064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520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Kafka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45168" y="393192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asíncrona basada en eventos: alertas de vencimiento y notificaciones de aprobación en tiempo real.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TO-BE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1: Cobro y Arqueo Digitalizado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4630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Finanzas-Clinic carga el saldo anterior vía JWT, consulta al paciente en tiempo real y emite la boleta electrónica sin redigitación. El cierre y arqueo se ejecutan en un clic con auditoría inmutable.</a:t>
            </a:r>
            <a:endParaRPr lang="en-US" sz="118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0B335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9443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min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0" y="294436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87.5% de ahorro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5669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77240"/>
                <a:gridCol w="2103120"/>
                <a:gridCol w="594360"/>
                <a:gridCol w="17373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Dur.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Mejora 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Inicia sesión con autenticación JWT segura.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min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Roles y firma encriptada.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Abre caja importando saldo anterior de BD.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Estado de caja automatizado.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Busca DNI de admisión legacy en pantalla web.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min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Integración directa de datos.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Carga datos médicos del paciente y copago.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Cero digitación de servicios.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Envía comprobante síncrono al PSE y SUNAT.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2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API REST de facturación síncrona.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Cajero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Ingresa saldo físico final y ejecuta cierre.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5 min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Cálculo automático de diferencias.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Valida cierre y registra en base de datos.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2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Cierre instantáneo, reporte en vivo.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Inyecta logs de auditoría de cierre en BD.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Log inmutable con AuditInterceptor.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53912" y="1417320"/>
            <a:ext cx="5669280" cy="4464369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images/image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554480"/>
            <a:ext cx="5394960" cy="419004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TO-BE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2: Gestión de Activos Fijos Automatizado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4630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logístico registra activos en Angular generando un código de barras único. Un proceso batch en Spring Boot calcula automáticamente la depreciación lineal de todos los activos al cierre de mes.</a:t>
            </a:r>
            <a:endParaRPr lang="en-US" sz="118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0B335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9443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0" y="294436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de ahorro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5669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77240"/>
                <a:gridCol w="2103120"/>
                <a:gridCol w="594360"/>
                <a:gridCol w="17373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Dur.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Mejora 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Logístico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Registra activo en Angular y emite código.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2 min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Código de barras único en BD.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Logístico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Asigna responsable y ubicación en el sistema.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min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Histórico de traslados inmutable.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Inicia proceso batch de depreciación mensual.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5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Batch Spring Boot parametrizado SUNAT.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Calcula e inyecta depreciación lineal contable.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Cálculo en BD, cero errores de fórmulas.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Genera log de auditoría del proceso.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Trazabilidad inmutable de cálculos fiscales.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Descarga reporte consolidado en PDF/Excel.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min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Visualización instantánea en pantalla.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153912" y="1417320"/>
            <a:ext cx="5669280" cy="3940266"/>
          </a:xfrm>
          <a:prstGeom prst="roundRect">
            <a:avLst>
              <a:gd name="adj" fmla="val 13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images/imag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1554480"/>
            <a:ext cx="5394960" cy="36659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TO-BE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Subproceso 3: Cobro y Conciliación de Convenios Digitalizado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15568" y="1463040"/>
            <a:ext cx="5120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cobro de copagos se sincronizan digitalmente. Apache Kafka dispara alertas automáticas 10 días antes del vencimiento, asegurando el cobro oportuno y reduciendo a cero las facturas vencidas.</a:t>
            </a:r>
            <a:endParaRPr lang="en-US" sz="1180" dirty="0"/>
          </a:p>
        </p:txBody>
      </p:sp>
      <p:sp>
        <p:nvSpPr>
          <p:cNvPr id="6" name="Shape 3"/>
          <p:cNvSpPr/>
          <p:nvPr/>
        </p:nvSpPr>
        <p:spPr>
          <a:xfrm>
            <a:off x="548640" y="288036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0B335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9443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0" y="2944368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98.5% de ahorro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5669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77240"/>
                <a:gridCol w="2103120"/>
                <a:gridCol w="594360"/>
                <a:gridCol w="17373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Acción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Dur.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Mejora TI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Sincroniza copago de admisión a la aseguradora.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Registro contable en BD al instante.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Visualiza saldo corporativo y concilia en Angular.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2 min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Interfaz web consolidada de cuentas.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Emite alertas Kafka automáticas de vencimiento.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2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Mensajería basada en eventos Kafka.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Contador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Exporta reporte de conciliación en formato XML.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min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Formato digital estándar para aseguradoras.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Aseguradora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Procesa conciliación electrónica de cobros.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día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Aprobación síncrona sin glosas.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Sistema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Registra confirmación de cobro e inyecta log.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1 seg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30" dirty="0">
                          <a:solidFill>
                            <a:srgbClr val="1E293B"/>
                          </a:solidFill>
                        </a:rPr>
                        <a:t>Actualización automática de cta. corriente.</a:t>
                      </a:r>
                      <a:endParaRPr lang="en-US" sz="83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283642" y="1417320"/>
            <a:ext cx="5539550" cy="534924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images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802" y="1554480"/>
            <a:ext cx="5265230" cy="5074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COMPARATIVO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Tiempos de Ejecución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31720"/>
                <a:gridCol w="2606040"/>
                <a:gridCol w="1371600"/>
                <a:gridCol w="100584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Proceso de negocio clínico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AS-IS (manual)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TO-BE (Finanzas-Clinic)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Ahorro neto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Eficiencia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35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Apertura, cobro y cierre diario de cajas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120 minutos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15 minutos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105 min / sucursal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87.5%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Cálculo de depreciación lineal de activos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 días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 segundos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~100% del tiempo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99.9%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Conciliación y cobro de convenios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 días (revisión física)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5 minutos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~3 días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98.5%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Aprobación de descuentos especiales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24 horas (espera de firmas)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 segundos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~24 horas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99.9%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automatización elimina esperas de días y horas de espera de firmas o procesamiento manual, sustituyéndolas por operaciones síncronas de segundos.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FINANCIERO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Reducción de Costos y Mermas Financieras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50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$5,400 USD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" y="299923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Eliminación de mermas contables en arqueos: de $500 a $50 USD mensuales por sucursal.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89120" y="164592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745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2450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$8,200 USD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4663440" y="299923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horas-hombre al evitar arqueos y digitación redundante de los cajeros.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229600" y="164592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9F2F5"/>
          </a:solidFill>
          <a:ln/>
          <a:effectLst>
            <a:outerShdw sx="100000" sy="100000" kx="0" ky="0" algn="bl" rotWithShape="0" blurRad="101600" dist="38100" dir="2700000">
              <a:srgbClr val="000000">
                <a:alpha val="1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7452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24505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$10,000 USD</a:t>
            </a:r>
            <a:endParaRPr lang="en-US" sz="2600" dirty="0"/>
          </a:p>
        </p:txBody>
      </p:sp>
      <p:sp>
        <p:nvSpPr>
          <p:cNvPr id="15" name="Text 10"/>
          <p:cNvSpPr/>
          <p:nvPr/>
        </p:nvSpPr>
        <p:spPr>
          <a:xfrm>
            <a:off x="8503920" y="299923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 del canal de convenios: alertas automáticas evitan mora y rechazo de facturas.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0B3350"/>
          </a:solidFill>
          <a:ln/>
        </p:spPr>
      </p:sp>
      <p:sp>
        <p:nvSpPr>
          <p:cNvPr id="17" name="Text 12"/>
          <p:cNvSpPr/>
          <p:nvPr/>
        </p:nvSpPr>
        <p:spPr>
          <a:xfrm>
            <a:off x="868680" y="4553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neto anual total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68680" y="486460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$23,600 USD</a:t>
            </a:r>
            <a:endParaRPr lang="en-US" sz="4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4709160"/>
            <a:ext cx="914400" cy="914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DESEMPEÑO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del Servicio, Seguridad y KPIs Operativos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5727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papel y cuidado ecológico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51560" y="189280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Digitalización completa del flujo de cobros, arqueos y reportes contables.</a:t>
            </a:r>
            <a:endParaRPr lang="en-US" sz="108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032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53288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seguridad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051560" y="285292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inmutable del 100% de operaciones sensibles con seguridad JWT.</a:t>
            </a:r>
            <a:endParaRPr lang="en-US" sz="108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2044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34930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colas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1051560" y="381304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espera física del paciente en ventanilla para cobros y copagos.</a:t>
            </a:r>
            <a:endParaRPr lang="en-US" sz="1080" dirty="0"/>
          </a:p>
        </p:txBody>
      </p:sp>
      <p:sp>
        <p:nvSpPr>
          <p:cNvPr id="13" name="Text 8"/>
          <p:cNvSpPr/>
          <p:nvPr/>
        </p:nvSpPr>
        <p:spPr>
          <a:xfrm>
            <a:off x="5577840" y="1554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3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clave de desempeño (KPIs)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2011680"/>
          <a:ext cx="6035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AS-IS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Meta TO-BE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TMA — Tiempo Medio de Arqueo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120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350"/>
                          </a:solidFill>
                        </a:rPr>
                        <a:t>&lt; 15 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TET — Tasa de Error en Transcripción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350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TCA — Tasa de Conciliación Automática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0.0%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3350"/>
                          </a:solidFill>
                        </a:rPr>
                        <a:t>&gt; 98.0%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F5"/>
                    </a:solidFill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5577840" y="3794760"/>
            <a:ext cx="6035040" cy="2103120"/>
          </a:xfrm>
          <a:prstGeom prst="roundRect">
            <a:avLst>
              <a:gd name="adj" fmla="val 3478"/>
            </a:avLst>
          </a:prstGeom>
          <a:solidFill>
            <a:srgbClr val="E9F2F5"/>
          </a:solidFill>
          <a:ln/>
        </p:spPr>
      </p:sp>
      <p:sp>
        <p:nvSpPr>
          <p:cNvPr id="16" name="Text 10"/>
          <p:cNvSpPr/>
          <p:nvPr/>
        </p:nvSpPr>
        <p:spPr>
          <a:xfrm>
            <a:off x="5852160" y="3977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de referencia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5852160" y="4315968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 = suma de tiempos de arqueo del día / número total de cajas</a:t>
            </a:r>
            <a:endParaRPr lang="en-US" sz="103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 = (boletas con montos erróneos / total de boletas emitidas) × 100%</a:t>
            </a:r>
            <a:endParaRPr lang="en-US" sz="1030" dirty="0"/>
          </a:p>
          <a:p>
            <a:pPr marL="342900" indent="-342900">
              <a:lnSpc>
                <a:spcPct val="120000"/>
              </a:lnSpc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 = (monto de copagos conciliados digitalmente / monto total de facturación de convenios) × 100%</a:t>
            </a:r>
            <a:endParaRPr lang="en-US" sz="1030" dirty="0"/>
          </a:p>
        </p:txBody>
      </p:sp>
      <p:sp>
        <p:nvSpPr>
          <p:cNvPr id="18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50292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645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490472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integración digital actual limita la competitividad de la clínica, genera sobrecostos operativos y expone los datos a vulnerabilidades de seguridad.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633472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“Finanzas-Clinic” permite rediseñar y optimizar los flujos de cajas, activos contables y convenios corporativos de forma integral.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776472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logran ahorros de hasta 99% de eficiencia en depreciación y aprobaciones, y $23,600 USD de ahorro neto anual.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919472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recomienda capacitar a los cajeros en las nuevas interfaces web y adoptar el estándar BPMN para la mejora continua de procesos.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CE011 · Finanzas-Clinic · Clínica Médica Unión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3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0F4C68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CE0131 - CE0135 · Entregable 4: Modelado de Procesos AS-IS / TO-BE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Condori Pachauri Omar  ·  Flores Llanque Mery Elizabeth  ·  Huahuaccapa Ccama Jaqueline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42793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Peruana Unión · Juliaca, Perú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Entregable 4: Modelado de Procesos AS-IS / TO-BE - Finanzas-Clinic</dc:title>
  <dc:subject>PptxGenJS Presentation</dc:subject>
  <dc:creator>Condori Pachauri Omar, Flores Llanque Mery Elizabeth, Huahuaccapa Ccama Jaqueline</dc:creator>
  <cp:lastModifiedBy>Condori Pachauri Omar, Flores Llanque Mery Elizabeth, Huahuaccapa Ccama Jaqueline</cp:lastModifiedBy>
  <cp:revision>1</cp:revision>
  <dcterms:created xsi:type="dcterms:W3CDTF">2026-07-07T03:58:54Z</dcterms:created>
  <dcterms:modified xsi:type="dcterms:W3CDTF">2026-07-07T03:58:54Z</dcterms:modified>
</cp:coreProperties>
</file>