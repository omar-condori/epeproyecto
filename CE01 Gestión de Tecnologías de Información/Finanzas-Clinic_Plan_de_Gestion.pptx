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Presupuesto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1295C"/>
              </a:solidFill>
              <a:effectLst/>
            </c:spPr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bubble3D val="0"/>
            <c:spPr>
              <a:solidFill>
                <a:srgbClr val="0B3D5C"/>
              </a:solidFill>
              <a:effectLst/>
            </c:spPr>
          </c:dPt>
          <c:dPt>
            <c:idx val="3"/>
            <c:bubble3D val="0"/>
            <c:spPr>
              <a:solidFill>
                <a:srgbClr val="E8A93B"/>
              </a:solidFill>
              <a:effectLst/>
            </c:spPr>
          </c:dPt>
          <c:dPt>
            <c:idx val="4"/>
            <c:bubble3D val="0"/>
            <c:spPr>
              <a:solidFill>
                <a:srgbClr val="E8654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Gestión (1.0)</c:v>
                </c:pt>
                <c:pt idx="1">
                  <c:v>Análisis y Diseño (2.0)</c:v>
                </c:pt>
                <c:pt idx="2">
                  <c:v>Desarrollo SW (3.0)</c:v>
                </c:pt>
                <c:pt idx="3">
                  <c:v>Seguridad (4.0)</c:v>
                </c:pt>
                <c:pt idx="4">
                  <c:v>Pruebas y Despliegue (5.0)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1500</c:v>
                </c:pt>
                <c:pt idx="1">
                  <c:v>3000</c:v>
                </c:pt>
                <c:pt idx="2">
                  <c:v>11000</c:v>
                </c:pt>
                <c:pt idx="3">
                  <c:v>1500</c:v>
                </c:pt>
                <c:pt idx="4">
                  <c:v>2000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B2A33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 Planificado Acumulado (PV)</c:v>
                </c:pt>
              </c:strCache>
            </c:strRef>
          </c:tx>
          <c:spPr>
            <a:solidFill>
              <a:srgbClr val="0B3D5C"/>
            </a:solidFill>
            <a:ln w="38100" cap="flat">
              <a:solidFill>
                <a:srgbClr val="0B3D5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0B3D5C"/>
              </a:solidFill>
              <a:ln w="9525" cap="flat">
                <a:solidFill>
                  <a:srgbClr val="0B3D5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Sheet1!$A$2:$A$18</c:f>
              <c:multiLvlStrCache>
                <c:ptCount val="17"/>
                <c:lvl>
                  <c:pt idx="0">
                    <c:v>S0</c:v>
                  </c:pt>
                  <c:pt idx="1">
                    <c:v>S1</c:v>
                  </c:pt>
                  <c:pt idx="2">
                    <c:v>S2</c:v>
                  </c:pt>
                  <c:pt idx="3">
                    <c:v>S3</c:v>
                  </c:pt>
                  <c:pt idx="4">
                    <c:v>S4</c:v>
                  </c:pt>
                  <c:pt idx="5">
                    <c:v>S5</c:v>
                  </c:pt>
                  <c:pt idx="6">
                    <c:v>S6</c:v>
                  </c:pt>
                  <c:pt idx="7">
                    <c:v>S7</c:v>
                  </c:pt>
                  <c:pt idx="8">
                    <c:v>S8</c:v>
                  </c:pt>
                  <c:pt idx="9">
                    <c:v>S9</c:v>
                  </c:pt>
                  <c:pt idx="10">
                    <c:v>S10</c:v>
                  </c:pt>
                  <c:pt idx="11">
                    <c:v>S11</c:v>
                  </c:pt>
                  <c:pt idx="12">
                    <c:v>S12</c:v>
                  </c:pt>
                  <c:pt idx="13">
                    <c:v>S13</c:v>
                  </c:pt>
                  <c:pt idx="14">
                    <c:v>S14</c:v>
                  </c:pt>
                  <c:pt idx="15">
                    <c:v>S15</c:v>
                  </c:pt>
                  <c:pt idx="16">
                    <c:v>S16</c:v>
                  </c:pt>
                </c:lvl>
              </c:multiLvlStrCache>
            </c:multiLvl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0</c:v>
                </c:pt>
                <c:pt idx="1">
                  <c:v>300</c:v>
                </c:pt>
                <c:pt idx="2">
                  <c:v>900</c:v>
                </c:pt>
                <c:pt idx="3">
                  <c:v>1600</c:v>
                </c:pt>
                <c:pt idx="4">
                  <c:v>2500</c:v>
                </c:pt>
                <c:pt idx="5">
                  <c:v>4200</c:v>
                </c:pt>
                <c:pt idx="6">
                  <c:v>6500</c:v>
                </c:pt>
                <c:pt idx="7">
                  <c:v>9200</c:v>
                </c:pt>
                <c:pt idx="8">
                  <c:v>12000</c:v>
                </c:pt>
                <c:pt idx="9">
                  <c:v>14700</c:v>
                </c:pt>
                <c:pt idx="10">
                  <c:v>16800</c:v>
                </c:pt>
                <c:pt idx="11">
                  <c:v>18300</c:v>
                </c:pt>
                <c:pt idx="12">
                  <c:v>19400</c:v>
                </c:pt>
                <c:pt idx="13">
                  <c:v>20200</c:v>
                </c:pt>
                <c:pt idx="14">
                  <c:v>20600</c:v>
                </c:pt>
                <c:pt idx="15">
                  <c:v>20800</c:v>
                </c:pt>
                <c:pt idx="16">
                  <c:v>20900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A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Costo Acumulado (USD)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A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B2A33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645920"/>
            <a:ext cx="4572000" cy="4572000"/>
          </a:xfrm>
          <a:prstGeom prst="ellipse">
            <a:avLst/>
          </a:prstGeom>
          <a:solidFill>
            <a:srgbClr val="0B3D5C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114800"/>
            <a:ext cx="3657600" cy="36576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pic>
        <p:nvPicPr>
          <p:cNvPr id="4" name="Image 0" descr="icons/hospi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594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PERUANA UNIÓN  ·  ESCUELA DE INGENIERÍA DE SISTEMAS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22860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Finanzas-Clinic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640080" y="3383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Financiera y Administrativa · Caso de Estudio: Clínica Médica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0080" y="42519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 3: Plan de Gestión del Proyecto (PMBOK / Agile)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4663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de la Competencia CE012: Gestión de Proyectos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5623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Condori Pachauri Omar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Flores Llanque Mery Elizabeth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Huahuaccapa Ccama Jaqueline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86800" y="60350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Juliaca, Perú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ACTA DE CONSTITUCIÓN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Justificación Estratégica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la clínica necesita Finanzas-Clinic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444240" cy="2286000"/>
          </a:xfrm>
          <a:prstGeom prst="roundRect">
            <a:avLst>
              <a:gd name="adj" fmla="val 3200"/>
            </a:avLst>
          </a:prstGeom>
          <a:solidFill>
            <a:srgbClr val="E8F1F5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E8654B"/>
          </a:solidFill>
          <a:ln/>
        </p:spPr>
      </p:sp>
      <p:pic>
        <p:nvPicPr>
          <p:cNvPr id="7" name="Image 0" descr="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2402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880360"/>
            <a:ext cx="289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22960" y="3383280"/>
            <a:ext cx="289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error por transcripciones manuales en cierres de caja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58640" y="1828800"/>
            <a:ext cx="3444240" cy="2286000"/>
          </a:xfrm>
          <a:prstGeom prst="roundRect">
            <a:avLst>
              <a:gd name="adj" fmla="val 3200"/>
            </a:avLst>
          </a:prstGeom>
          <a:solidFill>
            <a:srgbClr val="E8F1F5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32960" y="21031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icons/box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120" y="22402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32960" y="2880360"/>
            <a:ext cx="289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$$$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4632960" y="3383280"/>
            <a:ext cx="289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pérdidas contables por omisión de depreciación fiscal de activos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68640" y="1828800"/>
            <a:ext cx="3444240" cy="2286000"/>
          </a:xfrm>
          <a:prstGeom prst="roundRect">
            <a:avLst>
              <a:gd name="adj" fmla="val 3200"/>
            </a:avLst>
          </a:prstGeom>
          <a:solidFill>
            <a:srgbClr val="E8F1F5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42960" y="2103120"/>
            <a:ext cx="640080" cy="64008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17" name="Image 2" descr="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0120" y="22402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42960" y="2880360"/>
            <a:ext cx="289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SUSALUD / SUNAT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8442960" y="3383280"/>
            <a:ext cx="289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interno inmutable para cumplir estándares regulatorios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48640" y="443484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Sponsor: </a:t>
            </a:r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de Administración y Finanzas de la Clínica Médica Unión, quien provee los recursos financieros y respaldo administrativo. El Gestor del Proyecto está formalmente facultado para planificar, dirigir y reportar el avance.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Finanzas-Clinic · Plan de Gestión del Proyecto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ACTA DE CONSTITUCIÓN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SMART del Proyecto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8F1F5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74520"/>
            <a:ext cx="548640" cy="54864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8760" y="1764792"/>
            <a:ext cx="28346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Específico (Alcance)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434840" y="1764792"/>
            <a:ext cx="70408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y desplegar 'Finanzas-Clinic' con 5 módulos: Caja Chica, Caja General, Activos Fijos, Convenios y Auditoría Activa con Kafka en Docker.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679192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862072"/>
            <a:ext cx="548640" cy="54864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62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08760" y="2752344"/>
            <a:ext cx="28346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Medible (Calidad)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34840" y="2752344"/>
            <a:ext cx="70408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cuadre diario de 120 a &lt;15 min (87.5% ahorro), 100% de operaciones auditadas, -80% facturas vencidas de convenios.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666744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8F1F5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849624"/>
            <a:ext cx="548640" cy="54864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49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08760" y="3739896"/>
            <a:ext cx="28346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Alcanzable (Recursos)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34840" y="3739896"/>
            <a:ext cx="70408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interno: 3 especialistas de desarrollo + 1 analista de QA.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654296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837176"/>
            <a:ext cx="548640" cy="54864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8371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508760" y="4727448"/>
            <a:ext cx="28346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Relevante (Estratégico)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34840" y="4727448"/>
            <a:ext cx="70408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15% costos operativos administrativos y aumentar 25% la satisfacción del paciente en recepción.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641848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8F1F5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5824728"/>
            <a:ext cx="548640" cy="54864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824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508760" y="5715000"/>
            <a:ext cx="28346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434840" y="5715000"/>
            <a:ext cx="70408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completo del proyecto: diagnóstico, desarrollo, capacitación y entrega en producción en 16 semanas.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Finanzas-Clinic · Plan de Gestión del Proyecto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ACTA DE CONSTITUCIÓN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Requerimientos de Alto Nivel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Funcionales y no funcionales del sistema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914400" cy="621792"/>
          </a:xfrm>
          <a:prstGeom prst="roundRect">
            <a:avLst>
              <a:gd name="adj" fmla="val 8824"/>
            </a:avLst>
          </a:prstGeom>
          <a:solidFill>
            <a:srgbClr val="0B3D5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057400"/>
            <a:ext cx="914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00200" y="2057400"/>
            <a:ext cx="4251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ingresos/egresos de caja chica y general; emitir arqueos en tiempo real.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770632"/>
            <a:ext cx="914400" cy="621792"/>
          </a:xfrm>
          <a:prstGeom prst="roundRect">
            <a:avLst>
              <a:gd name="adj" fmla="val 8824"/>
            </a:avLst>
          </a:prstGeom>
          <a:solidFill>
            <a:srgbClr val="0B3D5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770632"/>
            <a:ext cx="914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00200" y="2770632"/>
            <a:ext cx="4251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activos fijos y calcular depreciación lineal mensual (parámetros SUNAT).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483864"/>
            <a:ext cx="914400" cy="621792"/>
          </a:xfrm>
          <a:prstGeom prst="roundRect">
            <a:avLst>
              <a:gd name="adj" fmla="val 8824"/>
            </a:avLst>
          </a:prstGeom>
          <a:solidFill>
            <a:srgbClr val="0B3D5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83864"/>
            <a:ext cx="914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00200" y="3483864"/>
            <a:ext cx="4251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Controlar cuentas corrientes y copagos de convenios corporativos de seguros.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197096"/>
            <a:ext cx="914400" cy="621792"/>
          </a:xfrm>
          <a:prstGeom prst="roundRect">
            <a:avLst>
              <a:gd name="adj" fmla="val 8824"/>
            </a:avLst>
          </a:prstGeom>
          <a:solidFill>
            <a:srgbClr val="0B3D5C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197096"/>
            <a:ext cx="914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00200" y="4197096"/>
            <a:ext cx="4251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Inyectar automáticamente registro de auditoría ante cualquier cambio mutable (INSERT/UPDATE/DELETE).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910328"/>
            <a:ext cx="914400" cy="621792"/>
          </a:xfrm>
          <a:prstGeom prst="roundRect">
            <a:avLst>
              <a:gd name="adj" fmla="val 8824"/>
            </a:avLst>
          </a:prstGeom>
          <a:solidFill>
            <a:srgbClr val="0B3D5C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910328"/>
            <a:ext cx="914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600200" y="4910328"/>
            <a:ext cx="4251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Permitir aprobación digital de descuentos mediante alertas web asíncronas.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63640" y="1691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FUNCIONALES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63640" y="2057400"/>
            <a:ext cx="914400" cy="621792"/>
          </a:xfrm>
          <a:prstGeom prst="roundRect">
            <a:avLst>
              <a:gd name="adj" fmla="val 8824"/>
            </a:avLst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2057400"/>
            <a:ext cx="914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0" y="2057400"/>
            <a:ext cx="4480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en Angular, responsiva para escritorio y tablets en cajas.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63640" y="2770632"/>
            <a:ext cx="914400" cy="621792"/>
          </a:xfrm>
          <a:prstGeom prst="roundRect">
            <a:avLst>
              <a:gd name="adj" fmla="val 8824"/>
            </a:avLst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2770632"/>
            <a:ext cx="914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0" y="2770632"/>
            <a:ext cx="4480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cliente-servidor protegida con tokens JWT con expiración.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63640" y="3483864"/>
            <a:ext cx="914400" cy="621792"/>
          </a:xfrm>
          <a:prstGeom prst="roundRect">
            <a:avLst>
              <a:gd name="adj" fmla="val 8824"/>
            </a:avLst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6263640" y="3483864"/>
            <a:ext cx="914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15200" y="3483864"/>
            <a:ext cx="4480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asíncronas vía Apache Kafka, entrega &lt; 2 segundos.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63640" y="4334256"/>
            <a:ext cx="5532120" cy="1417320"/>
          </a:xfrm>
          <a:prstGeom prst="roundRect">
            <a:avLst>
              <a:gd name="adj" fmla="val 3871"/>
            </a:avLst>
          </a:prstGeom>
          <a:solidFill>
            <a:srgbClr val="E8F1F5"/>
          </a:solidFill>
          <a:ln/>
        </p:spPr>
      </p:sp>
      <p:pic>
        <p:nvPicPr>
          <p:cNvPr id="32" name="Image 0" descr="icon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4562856"/>
            <a:ext cx="365760" cy="36576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6995160" y="4471416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 clave: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≤ $19,000 USD · Plazo: 16 semanas · Despliegue obligatorio en contenedores Docker.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Finanzas-Clinic · Plan de Gestión del Proyecto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ACTA DE CONSTITUCIÓN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Registro de Stakeholders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Poder, interés y estrategia de involucramiento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822960"/>
                <a:gridCol w="822960"/>
                <a:gridCol w="5760720"/>
                <a:gridCol w="182880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Stakeholder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Poder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Interés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Estrategia de Involucramiento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Frecuencia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33"/>
                          </a:solidFill>
                        </a:rPr>
                        <a:t>Gerencia General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8654B"/>
                          </a:solidFill>
                        </a:rPr>
                        <a:t>Alto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8654B"/>
                          </a:solidFill>
                        </a:rPr>
                        <a:t>Alto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</a:rPr>
                        <a:t>Gestionar de cerca — reportes de Curva S y valor ganado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7293"/>
                          </a:solidFill>
                        </a:rPr>
                        <a:t>Mensual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33"/>
                          </a:solidFill>
                        </a:rPr>
                        <a:t>Jefe de Finanzas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8654B"/>
                          </a:solidFill>
                        </a:rPr>
                        <a:t>Alto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8654B"/>
                          </a:solidFill>
                        </a:rPr>
                        <a:t>Alto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</a:rPr>
                        <a:t>Gestionar de cerca — diseño de interfaces y control de arqueos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7293"/>
                          </a:solidFill>
                        </a:rPr>
                        <a:t>Semanal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33"/>
                          </a:solidFill>
                        </a:rPr>
                        <a:t>Cajeros Administrativos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3"/>
                          </a:solidFill>
                        </a:rPr>
                        <a:t>Bajo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8654B"/>
                          </a:solidFill>
                        </a:rPr>
                        <a:t>Alto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</a:rPr>
                        <a:t>Mantener informados — talleres e inducciones de usabilidad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7293"/>
                          </a:solidFill>
                        </a:rPr>
                        <a:t>Quincenal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33"/>
                          </a:solidFill>
                        </a:rPr>
                        <a:t>Jefe de Logística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3"/>
                          </a:solidFill>
                        </a:rPr>
                        <a:t>Medio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8654B"/>
                          </a:solidFill>
                        </a:rPr>
                        <a:t>Alto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</a:rPr>
                        <a:t>Mantener informados — validación de depreciación y activos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7293"/>
                          </a:solidFill>
                        </a:rPr>
                        <a:t>Quincenal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33"/>
                          </a:solidFill>
                        </a:rPr>
                        <a:t>SUNAT / SUSALUD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8654B"/>
                          </a:solidFill>
                        </a:rPr>
                        <a:t>Alto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3"/>
                          </a:solidFill>
                        </a:rPr>
                        <a:t>Medio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</a:rPr>
                        <a:t>Mantener satisfechos — cumplimiento tributario y logs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7293"/>
                          </a:solidFill>
                        </a:rPr>
                        <a:t>Por hito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33"/>
                          </a:solidFill>
                        </a:rPr>
                        <a:t>Equipo de Desarrollo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3"/>
                          </a:solidFill>
                        </a:rPr>
                        <a:t>Medio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8654B"/>
                          </a:solidFill>
                        </a:rPr>
                        <a:t>Alto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33"/>
                          </a:solidFill>
                        </a:rPr>
                        <a:t>Colaborar activamente — Daily standups y planeamiento Scrum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7293"/>
                          </a:solidFill>
                        </a:rPr>
                        <a:t>Diario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Finanzas-Clinic · Plan de Gestión del Proyecto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DEL ALCANCE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Declaración del Alcance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incluidos dentro de los límites del proyecto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474720" cy="1737360"/>
          </a:xfrm>
          <a:prstGeom prst="roundRect">
            <a:avLst>
              <a:gd name="adj" fmla="val 3684"/>
            </a:avLst>
          </a:prstGeom>
          <a:solidFill>
            <a:srgbClr val="E8F1F5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3852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icons/mon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039112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514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 Chica y Caja General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290779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Apertura, movimientos, arqueos automáticos y alertas de saldos bajos.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343400" y="1737360"/>
            <a:ext cx="3474720" cy="1737360"/>
          </a:xfrm>
          <a:prstGeom prst="roundRect">
            <a:avLst>
              <a:gd name="adj" fmla="val 3684"/>
            </a:avLst>
          </a:prstGeom>
          <a:solidFill>
            <a:srgbClr val="E8F1F5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193852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icons/box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584" y="2039112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0" y="2514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Activos Fijos y Depreciación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72000" y="290779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mensual automático (línea recta, SUNAT) y registro de traslados.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8138160" y="1737360"/>
            <a:ext cx="3474720" cy="1737360"/>
          </a:xfrm>
          <a:prstGeom prst="roundRect">
            <a:avLst>
              <a:gd name="adj" fmla="val 3684"/>
            </a:avLst>
          </a:prstGeom>
          <a:solidFill>
            <a:srgbClr val="E8F1F5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66760" y="193852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2" descr="icons/handshak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4" y="2039112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66760" y="2514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Corrientes y Convenios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8366760" y="290779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Saldos de copago con aseguradoras y conciliación de cuentas.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548640" y="3749040"/>
            <a:ext cx="3474720" cy="1737360"/>
          </a:xfrm>
          <a:prstGeom prst="roundRect">
            <a:avLst>
              <a:gd name="adj" fmla="val 3684"/>
            </a:avLst>
          </a:prstGeom>
          <a:solidFill>
            <a:srgbClr val="E8F1F5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77240" y="395020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3" descr="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4050792"/>
            <a:ext cx="301752" cy="30175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77240" y="4526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 Datos Activa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77240" y="491947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Interceptor Java que inyecta logs inmutables de cada operación mutable.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4343400" y="3749040"/>
            <a:ext cx="3474720" cy="1737360"/>
          </a:xfrm>
          <a:prstGeom prst="roundRect">
            <a:avLst>
              <a:gd name="adj" fmla="val 3684"/>
            </a:avLst>
          </a:prstGeom>
          <a:solidFill>
            <a:srgbClr val="E8F1F5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72000" y="395020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7" name="Image 4" descr="icons/syn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2584" y="4050792"/>
            <a:ext cx="301752" cy="30175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72000" y="4526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Mensajería Kafka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572000" y="491947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en Docker para notificaciones de seguridad y aprobaciones en tiempo real.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Finanzas-Clinic · Plan de Gestión del Proyecto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DEL ALCANCE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de Desglose del Trabajo (EDT)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fases principales del proyecto Finanzas-Clinic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18304" y="1691640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4718304" y="16916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Finanzas-Clinic Project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89904" y="2194560"/>
            <a:ext cx="0" cy="320040"/>
          </a:xfrm>
          <a:prstGeom prst="line">
            <a:avLst/>
          </a:prstGeom>
          <a:noFill/>
          <a:ln w="19050">
            <a:solidFill>
              <a:srgbClr val="B7C6C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63624" y="2194560"/>
            <a:ext cx="0" cy="320040"/>
          </a:xfrm>
          <a:prstGeom prst="line">
            <a:avLst/>
          </a:prstGeom>
          <a:noFill/>
          <a:ln w="15240">
            <a:solidFill>
              <a:srgbClr val="B7C6C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514600"/>
            <a:ext cx="2029968" cy="594360"/>
          </a:xfrm>
          <a:prstGeom prst="roundRect">
            <a:avLst>
              <a:gd name="adj" fmla="val 7692"/>
            </a:avLst>
          </a:prstGeom>
          <a:solidFill>
            <a:srgbClr val="0B3D5C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2514600"/>
            <a:ext cx="18836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 Gestión de Proyecto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246120"/>
            <a:ext cx="2029968" cy="548640"/>
          </a:xfrm>
          <a:prstGeom prst="roundRect">
            <a:avLst>
              <a:gd name="adj" fmla="val 8333"/>
            </a:avLst>
          </a:prstGeom>
          <a:solidFill>
            <a:srgbClr val="E8F1F5"/>
          </a:solidFill>
          <a:ln w="9525">
            <a:solidFill>
              <a:srgbClr val="D5E3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3246120"/>
            <a:ext cx="1883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Acta de Constitución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2029968" cy="548640"/>
          </a:xfrm>
          <a:prstGeom prst="roundRect">
            <a:avLst>
              <a:gd name="adj" fmla="val 8333"/>
            </a:avLst>
          </a:prstGeom>
          <a:solidFill>
            <a:srgbClr val="E8F1F5"/>
          </a:solidFill>
          <a:ln w="9525">
            <a:solidFill>
              <a:srgbClr val="D5E3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3886200"/>
            <a:ext cx="1883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4526280"/>
            <a:ext cx="2029968" cy="548640"/>
          </a:xfrm>
          <a:prstGeom prst="roundRect">
            <a:avLst>
              <a:gd name="adj" fmla="val 8333"/>
            </a:avLst>
          </a:prstGeom>
          <a:solidFill>
            <a:srgbClr val="E8F1F5"/>
          </a:solidFill>
          <a:ln w="9525">
            <a:solidFill>
              <a:srgbClr val="D5E3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4526280"/>
            <a:ext cx="1883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Reuniones de Cierre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22192" y="2194560"/>
            <a:ext cx="0" cy="320040"/>
          </a:xfrm>
          <a:prstGeom prst="line">
            <a:avLst/>
          </a:prstGeom>
          <a:noFill/>
          <a:ln w="15240">
            <a:solidFill>
              <a:srgbClr val="B7C6C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07208" y="2514600"/>
            <a:ext cx="2029968" cy="594360"/>
          </a:xfrm>
          <a:prstGeom prst="roundRect">
            <a:avLst>
              <a:gd name="adj" fmla="val 7692"/>
            </a:avLst>
          </a:prstGeom>
          <a:solidFill>
            <a:srgbClr val="0B3D5C"/>
          </a:solidFill>
          <a:ln/>
        </p:spPr>
      </p:sp>
      <p:sp>
        <p:nvSpPr>
          <p:cNvPr id="19" name="Text 17"/>
          <p:cNvSpPr/>
          <p:nvPr/>
        </p:nvSpPr>
        <p:spPr>
          <a:xfrm>
            <a:off x="2880360" y="2514600"/>
            <a:ext cx="18836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  Análisis y Diseño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807208" y="3246120"/>
            <a:ext cx="2029968" cy="548640"/>
          </a:xfrm>
          <a:prstGeom prst="roundRect">
            <a:avLst>
              <a:gd name="adj" fmla="val 8333"/>
            </a:avLst>
          </a:prstGeom>
          <a:solidFill>
            <a:srgbClr val="E8F1F5"/>
          </a:solidFill>
          <a:ln w="9525">
            <a:solidFill>
              <a:srgbClr val="D5E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80360" y="3246120"/>
            <a:ext cx="1883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807208" y="3886200"/>
            <a:ext cx="2029968" cy="548640"/>
          </a:xfrm>
          <a:prstGeom prst="roundRect">
            <a:avLst>
              <a:gd name="adj" fmla="val 8333"/>
            </a:avLst>
          </a:prstGeom>
          <a:solidFill>
            <a:srgbClr val="E8F1F5"/>
          </a:solidFill>
          <a:ln w="9525">
            <a:solidFill>
              <a:srgbClr val="D5E3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80360" y="3886200"/>
            <a:ext cx="1883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BPMN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807208" y="4526280"/>
            <a:ext cx="2029968" cy="548640"/>
          </a:xfrm>
          <a:prstGeom prst="roundRect">
            <a:avLst>
              <a:gd name="adj" fmla="val 8333"/>
            </a:avLst>
          </a:prstGeom>
          <a:solidFill>
            <a:srgbClr val="E8F1F5"/>
          </a:solidFill>
          <a:ln w="9525">
            <a:solidFill>
              <a:srgbClr val="D5E3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80360" y="4526280"/>
            <a:ext cx="1883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y BD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80760" y="2194560"/>
            <a:ext cx="0" cy="320040"/>
          </a:xfrm>
          <a:prstGeom prst="line">
            <a:avLst/>
          </a:prstGeom>
          <a:noFill/>
          <a:ln w="15240">
            <a:solidFill>
              <a:srgbClr val="B7C6C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65776" y="2514600"/>
            <a:ext cx="2029968" cy="594360"/>
          </a:xfrm>
          <a:prstGeom prst="roundRect">
            <a:avLst>
              <a:gd name="adj" fmla="val 7692"/>
            </a:avLst>
          </a:prstGeom>
          <a:solidFill>
            <a:srgbClr val="0B3D5C"/>
          </a:solidFill>
          <a:ln/>
        </p:spPr>
      </p:sp>
      <p:sp>
        <p:nvSpPr>
          <p:cNvPr id="28" name="Text 26"/>
          <p:cNvSpPr/>
          <p:nvPr/>
        </p:nvSpPr>
        <p:spPr>
          <a:xfrm>
            <a:off x="5138928" y="2514600"/>
            <a:ext cx="18836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  Desarrollo de Software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65776" y="3246120"/>
            <a:ext cx="2029968" cy="548640"/>
          </a:xfrm>
          <a:prstGeom prst="roundRect">
            <a:avLst>
              <a:gd name="adj" fmla="val 8333"/>
            </a:avLst>
          </a:prstGeom>
          <a:solidFill>
            <a:srgbClr val="E8F1F5"/>
          </a:solidFill>
          <a:ln w="9525">
            <a:solidFill>
              <a:srgbClr val="D5E3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38928" y="3246120"/>
            <a:ext cx="1883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Cajas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65776" y="3886200"/>
            <a:ext cx="2029968" cy="548640"/>
          </a:xfrm>
          <a:prstGeom prst="roundRect">
            <a:avLst>
              <a:gd name="adj" fmla="val 8333"/>
            </a:avLst>
          </a:prstGeom>
          <a:solidFill>
            <a:srgbClr val="E8F1F5"/>
          </a:solidFill>
          <a:ln w="9525">
            <a:solidFill>
              <a:srgbClr val="D5E3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38928" y="3886200"/>
            <a:ext cx="1883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 y Pagos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65776" y="4526280"/>
            <a:ext cx="2029968" cy="548640"/>
          </a:xfrm>
          <a:prstGeom prst="roundRect">
            <a:avLst>
              <a:gd name="adj" fmla="val 8333"/>
            </a:avLst>
          </a:prstGeom>
          <a:solidFill>
            <a:srgbClr val="E8F1F5"/>
          </a:solidFill>
          <a:ln w="9525">
            <a:solidFill>
              <a:srgbClr val="D5E3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38928" y="4526280"/>
            <a:ext cx="1883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APIs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339328" y="2194560"/>
            <a:ext cx="0" cy="320040"/>
          </a:xfrm>
          <a:prstGeom prst="line">
            <a:avLst/>
          </a:prstGeom>
          <a:noFill/>
          <a:ln w="15240">
            <a:solidFill>
              <a:srgbClr val="B7C6C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324344" y="2514600"/>
            <a:ext cx="2029968" cy="594360"/>
          </a:xfrm>
          <a:prstGeom prst="roundRect">
            <a:avLst>
              <a:gd name="adj" fmla="val 7692"/>
            </a:avLst>
          </a:prstGeom>
          <a:solidFill>
            <a:srgbClr val="0B3D5C"/>
          </a:solidFill>
          <a:ln/>
        </p:spPr>
      </p:sp>
      <p:sp>
        <p:nvSpPr>
          <p:cNvPr id="37" name="Text 35"/>
          <p:cNvSpPr/>
          <p:nvPr/>
        </p:nvSpPr>
        <p:spPr>
          <a:xfrm>
            <a:off x="7397496" y="2514600"/>
            <a:ext cx="18836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  Seguridad y Auditoría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324344" y="3246120"/>
            <a:ext cx="2029968" cy="548640"/>
          </a:xfrm>
          <a:prstGeom prst="roundRect">
            <a:avLst>
              <a:gd name="adj" fmla="val 8333"/>
            </a:avLst>
          </a:prstGeom>
          <a:solidFill>
            <a:srgbClr val="E8F1F5"/>
          </a:solidFill>
          <a:ln w="9525">
            <a:solidFill>
              <a:srgbClr val="D5E3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97496" y="3246120"/>
            <a:ext cx="1883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JWT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324344" y="3886200"/>
            <a:ext cx="2029968" cy="548640"/>
          </a:xfrm>
          <a:prstGeom prst="roundRect">
            <a:avLst>
              <a:gd name="adj" fmla="val 8333"/>
            </a:avLst>
          </a:prstGeom>
          <a:solidFill>
            <a:srgbClr val="E8F1F5"/>
          </a:solidFill>
          <a:ln w="9525">
            <a:solidFill>
              <a:srgbClr val="D5E3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97496" y="3886200"/>
            <a:ext cx="1883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 Logs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0597896" y="2194560"/>
            <a:ext cx="0" cy="320040"/>
          </a:xfrm>
          <a:prstGeom prst="line">
            <a:avLst/>
          </a:prstGeom>
          <a:noFill/>
          <a:ln w="15240">
            <a:solidFill>
              <a:srgbClr val="B7C6C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582912" y="2514600"/>
            <a:ext cx="2029968" cy="594360"/>
          </a:xfrm>
          <a:prstGeom prst="roundRect">
            <a:avLst>
              <a:gd name="adj" fmla="val 7692"/>
            </a:avLst>
          </a:prstGeom>
          <a:solidFill>
            <a:srgbClr val="0B3D5C"/>
          </a:solidFill>
          <a:ln/>
        </p:spPr>
      </p:sp>
      <p:sp>
        <p:nvSpPr>
          <p:cNvPr id="44" name="Text 42"/>
          <p:cNvSpPr/>
          <p:nvPr/>
        </p:nvSpPr>
        <p:spPr>
          <a:xfrm>
            <a:off x="9656064" y="2514600"/>
            <a:ext cx="18836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  Pruebas y Despliegue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9582912" y="3246120"/>
            <a:ext cx="2029968" cy="548640"/>
          </a:xfrm>
          <a:prstGeom prst="roundRect">
            <a:avLst>
              <a:gd name="adj" fmla="val 8333"/>
            </a:avLst>
          </a:prstGeom>
          <a:solidFill>
            <a:srgbClr val="E8F1F5"/>
          </a:solidFill>
          <a:ln w="9525">
            <a:solidFill>
              <a:srgbClr val="D5E3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656064" y="3246120"/>
            <a:ext cx="1883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QA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9582912" y="3886200"/>
            <a:ext cx="2029968" cy="548640"/>
          </a:xfrm>
          <a:prstGeom prst="roundRect">
            <a:avLst>
              <a:gd name="adj" fmla="val 8333"/>
            </a:avLst>
          </a:prstGeom>
          <a:solidFill>
            <a:srgbClr val="E8F1F5"/>
          </a:solidFill>
          <a:ln w="9525">
            <a:solidFill>
              <a:srgbClr val="D5E3E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656064" y="3886200"/>
            <a:ext cx="1883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Aceptación UAT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9582912" y="4526280"/>
            <a:ext cx="2029968" cy="548640"/>
          </a:xfrm>
          <a:prstGeom prst="roundRect">
            <a:avLst>
              <a:gd name="adj" fmla="val 8333"/>
            </a:avLst>
          </a:prstGeom>
          <a:solidFill>
            <a:srgbClr val="E8F1F5"/>
          </a:solidFill>
          <a:ln w="9525">
            <a:solidFill>
              <a:srgbClr val="D5E3E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656064" y="4526280"/>
            <a:ext cx="1883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Producción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Finanzas-Clinic · Plan de Gestión del Proyecto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DEL CRONOGRAMA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Cronograma del Proyecto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semanas — ruta crítica en desarrollo (A8–A15)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514600" y="1463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34740" y="1463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754880" y="1463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875020" y="1463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995160" y="1463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115300" y="1463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235440" y="1463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355580" y="1463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S14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475720" y="1463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S16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651760" y="1737360"/>
            <a:ext cx="0" cy="3493008"/>
          </a:xfrm>
          <a:prstGeom prst="line">
            <a:avLst/>
          </a:prstGeom>
          <a:noFill/>
          <a:ln w="9525">
            <a:solidFill>
              <a:srgbClr val="EDF2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71900" y="1737360"/>
            <a:ext cx="0" cy="3493008"/>
          </a:xfrm>
          <a:prstGeom prst="line">
            <a:avLst/>
          </a:prstGeom>
          <a:noFill/>
          <a:ln w="9525">
            <a:solidFill>
              <a:srgbClr val="EDF2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92040" y="1737360"/>
            <a:ext cx="0" cy="3493008"/>
          </a:xfrm>
          <a:prstGeom prst="line">
            <a:avLst/>
          </a:prstGeom>
          <a:noFill/>
          <a:ln w="9525">
            <a:solidFill>
              <a:srgbClr val="EDF2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12180" y="1737360"/>
            <a:ext cx="0" cy="3493008"/>
          </a:xfrm>
          <a:prstGeom prst="line">
            <a:avLst/>
          </a:prstGeom>
          <a:noFill/>
          <a:ln w="9525">
            <a:solidFill>
              <a:srgbClr val="EDF2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0" y="1737360"/>
            <a:ext cx="0" cy="3493008"/>
          </a:xfrm>
          <a:prstGeom prst="line">
            <a:avLst/>
          </a:prstGeom>
          <a:noFill/>
          <a:ln w="9525">
            <a:solidFill>
              <a:srgbClr val="EDF2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52460" y="1737360"/>
            <a:ext cx="0" cy="3493008"/>
          </a:xfrm>
          <a:prstGeom prst="line">
            <a:avLst/>
          </a:prstGeom>
          <a:noFill/>
          <a:ln w="9525">
            <a:solidFill>
              <a:srgbClr val="EDF2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72600" y="1737360"/>
            <a:ext cx="0" cy="3493008"/>
          </a:xfrm>
          <a:prstGeom prst="line">
            <a:avLst/>
          </a:prstGeom>
          <a:noFill/>
          <a:ln w="9525">
            <a:solidFill>
              <a:srgbClr val="EDF2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492740" y="1737360"/>
            <a:ext cx="0" cy="3493008"/>
          </a:xfrm>
          <a:prstGeom prst="line">
            <a:avLst/>
          </a:prstGeom>
          <a:noFill/>
          <a:ln w="9525">
            <a:solidFill>
              <a:srgbClr val="EDF2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612880" y="1737360"/>
            <a:ext cx="0" cy="3493008"/>
          </a:xfrm>
          <a:prstGeom prst="line">
            <a:avLst/>
          </a:prstGeom>
          <a:noFill/>
          <a:ln w="9525">
            <a:solidFill>
              <a:srgbClr val="EDF2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178308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y Project Charter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651760" y="1856232"/>
            <a:ext cx="2240280" cy="329184"/>
          </a:xfrm>
          <a:prstGeom prst="roundRect">
            <a:avLst>
              <a:gd name="adj" fmla="val 11111"/>
            </a:avLst>
          </a:prstGeom>
          <a:solidFill>
            <a:srgbClr val="0B3D5C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35000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y WBS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92040" y="2423160"/>
            <a:ext cx="2240280" cy="329184"/>
          </a:xfrm>
          <a:prstGeom prst="roundRect">
            <a:avLst>
              <a:gd name="adj" fmla="val 11111"/>
            </a:avLst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2916936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Backend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132320" y="2990088"/>
            <a:ext cx="1680210" cy="329184"/>
          </a:xfrm>
          <a:prstGeom prst="roundRect">
            <a:avLst>
              <a:gd name="adj" fmla="val 11111"/>
            </a:avLst>
          </a:prstGeom>
          <a:solidFill>
            <a:srgbClr val="2FBF8F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483864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Frontend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252460" y="3557016"/>
            <a:ext cx="1680210" cy="329184"/>
          </a:xfrm>
          <a:prstGeom prst="roundRect">
            <a:avLst>
              <a:gd name="adj" fmla="val 11111"/>
            </a:avLst>
          </a:prstGeom>
          <a:solidFill>
            <a:srgbClr val="2FBF8F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405079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Kafka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932670" y="4123944"/>
            <a:ext cx="560070" cy="329184"/>
          </a:xfrm>
          <a:prstGeom prst="roundRect">
            <a:avLst>
              <a:gd name="adj" fmla="val 11111"/>
            </a:avLst>
          </a:prstGeom>
          <a:solidFill>
            <a:srgbClr val="E8A93B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461772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y Despliegue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0492740" y="4690872"/>
            <a:ext cx="1120140" cy="329184"/>
          </a:xfrm>
          <a:prstGeom prst="roundRect">
            <a:avLst>
              <a:gd name="adj" fmla="val 11111"/>
            </a:avLst>
          </a:prstGeom>
          <a:solidFill>
            <a:srgbClr val="E8654B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54132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HITOS DE CONTROL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37176" y="5797296"/>
            <a:ext cx="109728" cy="109728"/>
          </a:xfrm>
          <a:prstGeom prst="ellipse">
            <a:avLst/>
          </a:prstGeom>
          <a:solidFill>
            <a:srgbClr val="E8654B"/>
          </a:solidFill>
          <a:ln/>
        </p:spPr>
      </p:sp>
      <p:sp>
        <p:nvSpPr>
          <p:cNvPr id="37" name="Shape 35"/>
          <p:cNvSpPr/>
          <p:nvPr/>
        </p:nvSpPr>
        <p:spPr>
          <a:xfrm>
            <a:off x="7077456" y="5797296"/>
            <a:ext cx="109728" cy="109728"/>
          </a:xfrm>
          <a:prstGeom prst="ellipse">
            <a:avLst/>
          </a:prstGeom>
          <a:solidFill>
            <a:srgbClr val="E8654B"/>
          </a:solidFill>
          <a:ln/>
        </p:spPr>
      </p:sp>
      <p:sp>
        <p:nvSpPr>
          <p:cNvPr id="38" name="Shape 36"/>
          <p:cNvSpPr/>
          <p:nvPr/>
        </p:nvSpPr>
        <p:spPr>
          <a:xfrm>
            <a:off x="8757666" y="5797296"/>
            <a:ext cx="109728" cy="109728"/>
          </a:xfrm>
          <a:prstGeom prst="ellipse">
            <a:avLst/>
          </a:prstGeom>
          <a:solidFill>
            <a:srgbClr val="E8654B"/>
          </a:solidFill>
          <a:ln/>
        </p:spPr>
      </p:sp>
      <p:sp>
        <p:nvSpPr>
          <p:cNvPr id="39" name="Shape 37"/>
          <p:cNvSpPr/>
          <p:nvPr/>
        </p:nvSpPr>
        <p:spPr>
          <a:xfrm>
            <a:off x="9877806" y="5797296"/>
            <a:ext cx="109728" cy="109728"/>
          </a:xfrm>
          <a:prstGeom prst="ellipse">
            <a:avLst/>
          </a:prstGeom>
          <a:solidFill>
            <a:srgbClr val="E8654B"/>
          </a:solidFill>
          <a:ln/>
        </p:spPr>
      </p:sp>
      <p:sp>
        <p:nvSpPr>
          <p:cNvPr id="40" name="Shape 38"/>
          <p:cNvSpPr/>
          <p:nvPr/>
        </p:nvSpPr>
        <p:spPr>
          <a:xfrm>
            <a:off x="10437876" y="5797296"/>
            <a:ext cx="109728" cy="109728"/>
          </a:xfrm>
          <a:prstGeom prst="ellipse">
            <a:avLst/>
          </a:prstGeom>
          <a:solidFill>
            <a:srgbClr val="E8654B"/>
          </a:solidFill>
          <a:ln/>
        </p:spPr>
      </p:sp>
      <p:sp>
        <p:nvSpPr>
          <p:cNvPr id="41" name="Shape 39"/>
          <p:cNvSpPr/>
          <p:nvPr/>
        </p:nvSpPr>
        <p:spPr>
          <a:xfrm>
            <a:off x="11558016" y="5797296"/>
            <a:ext cx="109728" cy="109728"/>
          </a:xfrm>
          <a:prstGeom prst="ellipse">
            <a:avLst/>
          </a:prstGeom>
          <a:solidFill>
            <a:srgbClr val="E8654B"/>
          </a:solidFill>
          <a:ln/>
        </p:spPr>
      </p:sp>
      <p:sp>
        <p:nvSpPr>
          <p:cNvPr id="42" name="Text 40"/>
          <p:cNvSpPr/>
          <p:nvPr/>
        </p:nvSpPr>
        <p:spPr>
          <a:xfrm>
            <a:off x="548640" y="60076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· Hito 1: Project Charter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297680" y="60076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 · Hito 2: Diseño y BD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046720" y="60076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S11 · Hito 3: Backend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48640" y="63733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S13 · Hito 4: Frontend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297680" y="63733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S14 · Hito 5: QA + Kafka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8046720" y="63733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S16 · Hito 6: Go-Live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Finanzas-Clinic · Plan de Gestión del Proyecto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COSTOS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Presupuesto del Proyecto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por paquete WBS + reservas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691640"/>
          <a:ext cx="51206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035040" y="178308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Gestión de Proyecto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692640" y="178308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$1,500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035040" y="220370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 Análisis y Diseño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92640" y="2203704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$3,000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035040" y="262432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 Desarrollo de Software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692640" y="262432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$11,000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035040" y="304495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 Seguridad y Auditoría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692640" y="304495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$1,500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035040" y="346557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 Pruebas y Despliegue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692640" y="346557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$2,000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035040" y="3931920"/>
            <a:ext cx="5120640" cy="0"/>
          </a:xfrm>
          <a:prstGeom prst="line">
            <a:avLst/>
          </a:prstGeom>
          <a:noFill/>
          <a:ln w="12700">
            <a:solidFill>
              <a:srgbClr val="D5E3E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35040" y="406908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Base de Costos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692640" y="406908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$19,000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035040" y="448970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de Contingencia (10%)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692640" y="4489704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$1,900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035040" y="487375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de Gestión (5%)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692640" y="487375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$950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035040" y="5330952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/>
        </p:spPr>
      </p:sp>
      <p:sp>
        <p:nvSpPr>
          <p:cNvPr id="24" name="Text 21"/>
          <p:cNvSpPr/>
          <p:nvPr/>
        </p:nvSpPr>
        <p:spPr>
          <a:xfrm>
            <a:off x="6263640" y="533095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TOTAL AUTORIZADO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9692640" y="5330952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$21,850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Finanzas-Clinic · Plan de Gestión del Proyecto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COSTOS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Línea Base de Costos (Curva S)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planificado acumulado (PV) a lo largo de 16 semanas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37360"/>
          <a:ext cx="11064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Finanzas-Clinic · Plan de Gestión del Proyecto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COSTOS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Presupuestario — Valor Ganado (EVM)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mensual de métricas de desempeño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051560"/>
                <a:gridCol w="1051560"/>
                <a:gridCol w="960120"/>
                <a:gridCol w="960120"/>
                <a:gridCol w="777240"/>
                <a:gridCol w="777240"/>
                <a:gridCol w="214884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PV ($)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EV ($)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 ($)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CV ($)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SV ($)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CPI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SPI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Estado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A33"/>
                          </a:solidFill>
                        </a:rPr>
                        <a:t>Mes 1 (S4)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3"/>
                          </a:solidFill>
                        </a:rPr>
                        <a:t>4,500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3"/>
                          </a:solidFill>
                        </a:rPr>
                        <a:t>4,500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3"/>
                          </a:solidFill>
                        </a:rPr>
                        <a:t>4,300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3"/>
                          </a:solidFill>
                        </a:rPr>
                        <a:t>+200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3"/>
                          </a:solidFill>
                        </a:rPr>
                        <a:t>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BF8F"/>
                          </a:solidFill>
                        </a:rPr>
                        <a:t>1.05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BF8F"/>
                          </a:solidFill>
                        </a:rPr>
                        <a:t>1.00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A33"/>
                          </a:solidFill>
                        </a:rPr>
                        <a:t>Bajo presupuesto, a tiempo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A33"/>
                          </a:solidFill>
                        </a:rPr>
                        <a:t>Mes 2 (S8)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3"/>
                          </a:solidFill>
                        </a:rPr>
                        <a:t>10,500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3"/>
                          </a:solidFill>
                        </a:rPr>
                        <a:t>10,000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3"/>
                          </a:solidFill>
                        </a:rPr>
                        <a:t>10,200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3"/>
                          </a:solidFill>
                        </a:rPr>
                        <a:t>-200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3"/>
                          </a:solidFill>
                        </a:rPr>
                        <a:t>-500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8654B"/>
                          </a:solidFill>
                        </a:rPr>
                        <a:t>0.98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8654B"/>
                          </a:solidFill>
                        </a:rPr>
                        <a:t>0.95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A33"/>
                          </a:solidFill>
                        </a:rPr>
                        <a:t>Ligero retraso y sobrecosto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A33"/>
                          </a:solidFill>
                        </a:rPr>
                        <a:t>Mes 3 (S12)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3"/>
                          </a:solidFill>
                        </a:rPr>
                        <a:t>17,000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3"/>
                          </a:solidFill>
                        </a:rPr>
                        <a:t>17,500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3"/>
                          </a:solidFill>
                        </a:rPr>
                        <a:t>17,100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3"/>
                          </a:solidFill>
                        </a:rPr>
                        <a:t>+400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3"/>
                          </a:solidFill>
                        </a:rPr>
                        <a:t>+500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BF8F"/>
                          </a:solidFill>
                        </a:rPr>
                        <a:t>1.02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BF8F"/>
                          </a:solidFill>
                        </a:rPr>
                        <a:t>1.03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A33"/>
                          </a:solidFill>
                        </a:rPr>
                        <a:t>Adelantado y bajo presupuesto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977640"/>
            <a:ext cx="11064240" cy="1371600"/>
          </a:xfrm>
          <a:prstGeom prst="roundRect">
            <a:avLst>
              <a:gd name="adj" fmla="val 4667"/>
            </a:avLst>
          </a:prstGeom>
          <a:solidFill>
            <a:srgbClr val="E8F1F5"/>
          </a:solidFill>
          <a:ln/>
        </p:spPr>
      </p:sp>
      <p:pic>
        <p:nvPicPr>
          <p:cNvPr id="7" name="Image 0" descr="icons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25196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4114800"/>
            <a:ext cx="9875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EAC (Mes 3):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 CPI de 1.02, el costo final estimado es EAC = BAC / CPI = $19,000 / 1.02 ≈ $18,627 USD, lo que proyecta un ahorro neto de $373 USD frente a la línea base.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Finanzas-Clinic · Plan de Gestión del Proyecto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RIESGOS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Riesgos Principales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 10 riesgos identificados — severidad antes / después de mitigación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023360"/>
                <a:gridCol w="1371600"/>
                <a:gridCol w="1737360"/>
                <a:gridCol w="1188720"/>
                <a:gridCol w="192024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Cód.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Riesgo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Prob×Imp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Estrategia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Sev. Post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Responsable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8654B"/>
                          </a:solidFill>
                        </a:rPr>
                        <a:t>R-01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A33"/>
                          </a:solidFill>
                        </a:rPr>
                        <a:t>Demoras en API del facturador SUNAT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8654B"/>
                          </a:solidFill>
                        </a:rPr>
                        <a:t>12 (Alto)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7293"/>
                          </a:solidFill>
                        </a:rPr>
                        <a:t>Mitigar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BF8F"/>
                          </a:solidFill>
                        </a:rPr>
                        <a:t>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3"/>
                          </a:solidFill>
                        </a:rPr>
                        <a:t>Dev Backend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8654B"/>
                          </a:solidFill>
                        </a:rPr>
                        <a:t>R-03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A33"/>
                          </a:solidFill>
                        </a:rPr>
                        <a:t>Accesos no autorizados a BD contable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8654B"/>
                          </a:solidFill>
                        </a:rPr>
                        <a:t>10 (Alto)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7293"/>
                          </a:solidFill>
                        </a:rPr>
                        <a:t>Evitar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BF8F"/>
                          </a:solidFill>
                        </a:rPr>
                        <a:t>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3"/>
                          </a:solidFill>
                        </a:rPr>
                        <a:t>SysAdmin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8654B"/>
                          </a:solidFill>
                        </a:rPr>
                        <a:t>R-04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A33"/>
                          </a:solidFill>
                        </a:rPr>
                        <a:t>Resistencia de cajeros a migrar de Excel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8654B"/>
                          </a:solidFill>
                        </a:rPr>
                        <a:t>12 (Alto)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7293"/>
                          </a:solidFill>
                        </a:rPr>
                        <a:t>Mitigar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BF8F"/>
                          </a:solidFill>
                        </a:rPr>
                        <a:t>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3"/>
                          </a:solidFill>
                        </a:rPr>
                        <a:t>Jefe Finanzas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8654B"/>
                          </a:solidFill>
                        </a:rPr>
                        <a:t>R-09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A33"/>
                          </a:solidFill>
                        </a:rPr>
                        <a:t>Falta de dedicación del equipo técnico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8654B"/>
                          </a:solidFill>
                        </a:rPr>
                        <a:t>12 (Alto)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7293"/>
                          </a:solidFill>
                        </a:rPr>
                        <a:t>Evitar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BF8F"/>
                          </a:solidFill>
                        </a:rPr>
                        <a:t>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3"/>
                          </a:solidFill>
                        </a:rPr>
                        <a:t>Sponsor / PM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8654B"/>
                          </a:solidFill>
                        </a:rPr>
                        <a:t>R-10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A33"/>
                          </a:solidFill>
                        </a:rPr>
                        <a:t>Modificación regulatoria de SUNAT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8654B"/>
                          </a:solidFill>
                        </a:rPr>
                        <a:t>12 (Alto)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7293"/>
                          </a:solidFill>
                        </a:rPr>
                        <a:t>Mitigar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BF8F"/>
                          </a:solidFill>
                        </a:rPr>
                        <a:t>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3"/>
                          </a:solidFill>
                        </a:rPr>
                        <a:t>Líder Técnico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riesgos altos (severidad 12) se reducen a nivel bajo tras aplicar la estrategia de mitigación/evasión correspondiente.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Finanzas-Clinic · Plan de Gestión del Proyecto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ÁGIL (SCRUM)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Ceremonias de Scrum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iterativo aplicado a la fase de construcción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526030" cy="3291840"/>
          </a:xfrm>
          <a:prstGeom prst="roundRect">
            <a:avLst>
              <a:gd name="adj" fmla="val 2896"/>
            </a:avLst>
          </a:prstGeom>
          <a:solidFill>
            <a:srgbClr val="0B3D5C"/>
          </a:solidFill>
          <a:ln/>
        </p:spPr>
      </p:sp>
      <p:sp>
        <p:nvSpPr>
          <p:cNvPr id="6" name="Shape 4"/>
          <p:cNvSpPr/>
          <p:nvPr/>
        </p:nvSpPr>
        <p:spPr>
          <a:xfrm>
            <a:off x="1445895" y="2240280"/>
            <a:ext cx="731520" cy="731520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7" name="Image 0" descr="icons/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5915" y="24460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154680"/>
            <a:ext cx="21602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3611880"/>
            <a:ext cx="216027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horas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" y="3977640"/>
            <a:ext cx="206883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selecciona e integra historias del Product Backlog al Sprint Backlog.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94710" y="1920240"/>
            <a:ext cx="2526030" cy="3291840"/>
          </a:xfrm>
          <a:prstGeom prst="roundRect">
            <a:avLst>
              <a:gd name="adj" fmla="val 2896"/>
            </a:avLst>
          </a:prstGeom>
          <a:solidFill>
            <a:srgbClr val="1C7293"/>
          </a:solidFill>
          <a:ln/>
        </p:spPr>
      </p:sp>
      <p:sp>
        <p:nvSpPr>
          <p:cNvPr id="12" name="Shape 9"/>
          <p:cNvSpPr/>
          <p:nvPr/>
        </p:nvSpPr>
        <p:spPr>
          <a:xfrm>
            <a:off x="4291965" y="2240280"/>
            <a:ext cx="731520" cy="731520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13" name="Image 1" descr="icons/syn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985" y="244602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77590" y="3154680"/>
            <a:ext cx="21602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Standup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577590" y="3611880"/>
            <a:ext cx="216027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minutos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623310" y="3977640"/>
            <a:ext cx="206883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hice ayer? ¿Qué haré hoy? ¿Qué impedimentos tengo?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240780" y="1920240"/>
            <a:ext cx="2526030" cy="3291840"/>
          </a:xfrm>
          <a:prstGeom prst="roundRect">
            <a:avLst>
              <a:gd name="adj" fmla="val 2896"/>
            </a:avLst>
          </a:prstGeom>
          <a:solidFill>
            <a:srgbClr val="0B3D5C"/>
          </a:solidFill>
          <a:ln/>
        </p:spPr>
      </p:sp>
      <p:sp>
        <p:nvSpPr>
          <p:cNvPr id="18" name="Shape 14"/>
          <p:cNvSpPr/>
          <p:nvPr/>
        </p:nvSpPr>
        <p:spPr>
          <a:xfrm>
            <a:off x="7138035" y="2240280"/>
            <a:ext cx="731520" cy="731520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1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8055" y="244602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23660" y="3154680"/>
            <a:ext cx="21602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423660" y="3611880"/>
            <a:ext cx="216027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hora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469380" y="3977640"/>
            <a:ext cx="206883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presenta el incremento de producto al Sponsor y Jefe de Finanzas.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9086850" y="1920240"/>
            <a:ext cx="2526030" cy="3291840"/>
          </a:xfrm>
          <a:prstGeom prst="roundRect">
            <a:avLst>
              <a:gd name="adj" fmla="val 2896"/>
            </a:avLst>
          </a:prstGeom>
          <a:solidFill>
            <a:srgbClr val="1C7293"/>
          </a:solidFill>
          <a:ln/>
        </p:spPr>
      </p:sp>
      <p:sp>
        <p:nvSpPr>
          <p:cNvPr id="24" name="Shape 19"/>
          <p:cNvSpPr/>
          <p:nvPr/>
        </p:nvSpPr>
        <p:spPr>
          <a:xfrm>
            <a:off x="9984105" y="2240280"/>
            <a:ext cx="731520" cy="731520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5" name="Image 3" descr="icons/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4125" y="2446020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269730" y="3154680"/>
            <a:ext cx="21602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Retrospective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9269730" y="3611880"/>
            <a:ext cx="216027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hora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9315450" y="3977640"/>
            <a:ext cx="206883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procesos y dinámicas del equipo para mejora continua.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 del desarrollo: 6 semanas de sprints con integración continua de Kafka y JWT.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Finanzas-Clinic · Plan de Gestión del Proyecto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ÁGIL (SCRUM)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Backlog Priorizado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de usuario de mayor prioridad (de 12 totales)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76809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4754880"/>
                <a:gridCol w="1005840"/>
                <a:gridCol w="914400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Historia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Descripción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Esfuerzo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Prioridad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3D5C"/>
                          </a:solidFill>
                        </a:rPr>
                        <a:t>US-01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</a:rPr>
                        <a:t>Registro de Apertura y Cierre de Cajas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7293"/>
                          </a:solidFill>
                        </a:rPr>
                        <a:t>8 PH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654B"/>
                          </a:solidFill>
                        </a:rPr>
                        <a:t>Alta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3D5C"/>
                          </a:solidFill>
                        </a:rPr>
                        <a:t>US-03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</a:rPr>
                        <a:t>Búsqueda e Integración con Admisión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7293"/>
                          </a:solidFill>
                        </a:rPr>
                        <a:t>13 PH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654B"/>
                          </a:solidFill>
                        </a:rPr>
                        <a:t>Alta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3D5C"/>
                          </a:solidFill>
                        </a:rPr>
                        <a:t>US-04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</a:rPr>
                        <a:t>Emisión de Comprobantes de Pago (SUNAT)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7293"/>
                          </a:solidFill>
                        </a:rPr>
                        <a:t>8 PH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654B"/>
                          </a:solidFill>
                        </a:rPr>
                        <a:t>Alta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3D5C"/>
                          </a:solidFill>
                        </a:rPr>
                        <a:t>US-07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</a:rPr>
                        <a:t>Control de Cuentas de Convenios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7293"/>
                          </a:solidFill>
                        </a:rPr>
                        <a:t>8 PH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654B"/>
                          </a:solidFill>
                        </a:rPr>
                        <a:t>Alta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3D5C"/>
                          </a:solidFill>
                        </a:rPr>
                        <a:t>US-08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</a:rPr>
                        <a:t>Aprobación de Descuentos Especiales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7293"/>
                          </a:solidFill>
                        </a:rPr>
                        <a:t>5 PH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654B"/>
                          </a:solidFill>
                        </a:rPr>
                        <a:t>Alta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3D5C"/>
                          </a:solidFill>
                        </a:rPr>
                        <a:t>US-10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</a:rPr>
                        <a:t>Autenticación y Seguridad de Roles (JWT)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7293"/>
                          </a:solidFill>
                        </a:rPr>
                        <a:t>5 PH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654B"/>
                          </a:solidFill>
                        </a:rPr>
                        <a:t>Alta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503920" y="1737360"/>
            <a:ext cx="3108960" cy="3657600"/>
          </a:xfrm>
          <a:prstGeom prst="roundRect">
            <a:avLst>
              <a:gd name="adj" fmla="val 2353"/>
            </a:avLst>
          </a:prstGeom>
          <a:solidFill>
            <a:srgbClr val="21295C"/>
          </a:solidFill>
          <a:ln/>
        </p:spPr>
      </p:sp>
      <p:sp>
        <p:nvSpPr>
          <p:cNvPr id="7" name="Text 4"/>
          <p:cNvSpPr/>
          <p:nvPr/>
        </p:nvSpPr>
        <p:spPr>
          <a:xfrm>
            <a:off x="8732520" y="1920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US-01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732520" y="22860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cajero, quiero registrar apertura y cierre de caja para llevar control diario del saldo.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732520" y="324612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95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que </a:t>
            </a:r>
            <a:pPr indent="0" marL="0">
              <a:spcAft>
                <a:spcPts val="8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cajero inicia sesión, </a:t>
            </a:r>
            <a:pPr indent="0" marL="0">
              <a:spcAft>
                <a:spcPts val="800"/>
              </a:spcAft>
              <a:buNone/>
            </a:pPr>
            <a:r>
              <a:rPr lang="en-US" sz="95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</a:t>
            </a:r>
            <a:pPr indent="0" marL="0">
              <a:spcAft>
                <a:spcPts val="8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ingresa el monto de apertura, </a:t>
            </a:r>
            <a:pPr indent="0" marL="0">
              <a:spcAft>
                <a:spcPts val="800"/>
              </a:spcAft>
              <a:buNone/>
            </a:pPr>
            <a:r>
              <a:rPr lang="en-US" sz="95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entonces </a:t>
            </a:r>
            <a:pPr indent="0" marL="0">
              <a:spcAft>
                <a:spcPts val="8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guarda el saldo inicial.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732520" y="43434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que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un descuadre mayor a $0 al cierre, </a:t>
            </a:r>
            <a:pPr indent="0" marL="0">
              <a:buNone/>
            </a:pPr>
            <a:r>
              <a:rPr lang="en-US" sz="95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entonces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emite una alerta.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Finanzas-Clinic · Plan de Gestión del Proyecto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 AUXILIARES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Calidad, Recursos y Comunicaciones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CALIDAD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474720" cy="658368"/>
          </a:xfrm>
          <a:prstGeom prst="roundRect">
            <a:avLst>
              <a:gd name="adj" fmla="val 6944"/>
            </a:avLst>
          </a:prstGeom>
          <a:solidFill>
            <a:srgbClr val="E8F1F5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11226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pruebas JUnit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85800" y="238658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80%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34747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84378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respuesta API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5800" y="31181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500 ms (95%)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520440"/>
            <a:ext cx="3474720" cy="658368"/>
          </a:xfrm>
          <a:prstGeom prst="roundRect">
            <a:avLst>
              <a:gd name="adj" fmla="val 6944"/>
            </a:avLst>
          </a:prstGeom>
          <a:solidFill>
            <a:srgbClr val="E8F1F5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57530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Defectos críticos en Sprint Review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85800" y="38496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34747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30682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estático de código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85800" y="458114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SonarQube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5196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RACI (extracto)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51960" y="2057400"/>
          <a:ext cx="3657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502920"/>
                <a:gridCol w="548640"/>
                <a:gridCol w="548640"/>
                <a:gridCol w="5029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Entregable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Backend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Frontend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QA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</a:rPr>
                        <a:t>Project Charter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C7293"/>
                          </a:solidFill>
                        </a:rPr>
                        <a:t>A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C7293"/>
                          </a:solidFill>
                        </a:rPr>
                        <a:t>I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C7293"/>
                          </a:solidFill>
                        </a:rPr>
                        <a:t>I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C7293"/>
                          </a:solidFill>
                        </a:rPr>
                        <a:t>I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</a:rPr>
                        <a:t>Módulo Cajas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C7293"/>
                          </a:solidFill>
                        </a:rPr>
                        <a:t>A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C7293"/>
                          </a:solidFill>
                        </a:rPr>
                        <a:t>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C7293"/>
                          </a:solidFill>
                        </a:rPr>
                        <a:t>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C7293"/>
                          </a:solidFill>
                        </a:rPr>
                        <a:t>C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</a:rPr>
                        <a:t>Interceptor Auditoría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C7293"/>
                          </a:solidFill>
                        </a:rPr>
                        <a:t>A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C7293"/>
                          </a:solidFill>
                        </a:rPr>
                        <a:t>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C7293"/>
                          </a:solidFill>
                        </a:rPr>
                        <a:t>I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C7293"/>
                          </a:solidFill>
                        </a:rPr>
                        <a:t>C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A33"/>
                          </a:solidFill>
                        </a:rPr>
                        <a:t>Pruebas y Despliegue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C7293"/>
                          </a:solidFill>
                        </a:rPr>
                        <a:t>A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C7293"/>
                          </a:solidFill>
                        </a:rPr>
                        <a:t>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C7293"/>
                          </a:solidFill>
                        </a:rPr>
                        <a:t>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C7293"/>
                          </a:solidFill>
                        </a:rPr>
                        <a:t>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8138160" y="16916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COMUNICACIONES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138160" y="2057400"/>
            <a:ext cx="3474720" cy="658368"/>
          </a:xfrm>
          <a:prstGeom prst="roundRect">
            <a:avLst>
              <a:gd name="adj" fmla="val 6944"/>
            </a:avLst>
          </a:prstGeom>
          <a:solidFill>
            <a:srgbClr val="E8F1F5"/>
          </a:solidFill>
          <a:ln/>
        </p:spPr>
      </p:sp>
      <p:sp>
        <p:nvSpPr>
          <p:cNvPr id="21" name="Text 18"/>
          <p:cNvSpPr/>
          <p:nvPr/>
        </p:nvSpPr>
        <p:spPr>
          <a:xfrm>
            <a:off x="8275320" y="211226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diario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275320" y="24048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Standup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138160" y="2788920"/>
            <a:ext cx="34747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</p:spPr>
      </p:sp>
      <p:sp>
        <p:nvSpPr>
          <p:cNvPr id="24" name="Text 21"/>
          <p:cNvSpPr/>
          <p:nvPr/>
        </p:nvSpPr>
        <p:spPr>
          <a:xfrm>
            <a:off x="8275320" y="284378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EVM mensual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275320" y="31363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a Gerencia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8138160" y="3520440"/>
            <a:ext cx="3474720" cy="658368"/>
          </a:xfrm>
          <a:prstGeom prst="roundRect">
            <a:avLst>
              <a:gd name="adj" fmla="val 6944"/>
            </a:avLst>
          </a:prstGeom>
          <a:solidFill>
            <a:srgbClr val="E8F1F5"/>
          </a:solidFill>
          <a:ln/>
        </p:spPr>
      </p:sp>
      <p:sp>
        <p:nvSpPr>
          <p:cNvPr id="27" name="Text 24"/>
          <p:cNvSpPr/>
          <p:nvPr/>
        </p:nvSpPr>
        <p:spPr>
          <a:xfrm>
            <a:off x="8275320" y="357530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Incrementos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8275320" y="386791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 (2 sem.)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8138160" y="4251960"/>
            <a:ext cx="34747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</p:spPr>
      </p:sp>
      <p:sp>
        <p:nvSpPr>
          <p:cNvPr id="30" name="Text 27"/>
          <p:cNvSpPr/>
          <p:nvPr/>
        </p:nvSpPr>
        <p:spPr>
          <a:xfrm>
            <a:off x="8275320" y="430682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de alcance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8275320" y="45994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/ Comité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Finanzas-Clinic · Plan de Gestión del Proyecto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828800"/>
            <a:ext cx="4572000" cy="4572000"/>
          </a:xfrm>
          <a:prstGeom prst="ellipse">
            <a:avLst/>
          </a:prstGeom>
          <a:solidFill>
            <a:srgbClr val="0B3D5C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657600"/>
            <a:ext cx="4114800" cy="41148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RECOMENDACIONES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plan integral, listo para ejecutarse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6675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 de Gestión de 'Finanzas-Clinic' combina los estándares del PMBOK con la agilidad de Scrum, entregando al equipo de TI directrices claras para ejecutar, controlar y monitorear el proyecto dentro del plazo de 16 semanas.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recomienda realizar el control mensual de las métricas de Valor Ganado (EVM) para anticipar desviaciones, y aplicar los planes de mitigación de la matriz de riesgos ante cualquier retraso en la API del facturador electrónico.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863840" y="2011680"/>
            <a:ext cx="3703320" cy="868680"/>
          </a:xfrm>
          <a:prstGeom prst="roundRect">
            <a:avLst>
              <a:gd name="adj" fmla="val 7368"/>
            </a:avLst>
          </a:prstGeom>
          <a:solidFill>
            <a:srgbClr val="0B3D5C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092440" y="2084832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509760" y="2084832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de ejecución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863840" y="3017520"/>
            <a:ext cx="3703320" cy="868680"/>
          </a:xfrm>
          <a:prstGeom prst="roundRect">
            <a:avLst>
              <a:gd name="adj" fmla="val 7368"/>
            </a:avLst>
          </a:prstGeom>
          <a:solidFill>
            <a:srgbClr val="0B3D5C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092440" y="3090672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$21,850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9509760" y="3090672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autorizado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63840" y="4023360"/>
            <a:ext cx="3703320" cy="868680"/>
          </a:xfrm>
          <a:prstGeom prst="roundRect">
            <a:avLst>
              <a:gd name="adj" fmla="val 7368"/>
            </a:avLst>
          </a:prstGeom>
          <a:solidFill>
            <a:srgbClr val="0B3D5C">
              <a:alpha val="8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092440" y="4096512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509760" y="4096512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funcionales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863840" y="5029200"/>
            <a:ext cx="3703320" cy="868680"/>
          </a:xfrm>
          <a:prstGeom prst="roundRect">
            <a:avLst>
              <a:gd name="adj" fmla="val 7368"/>
            </a:avLst>
          </a:prstGeom>
          <a:solidFill>
            <a:srgbClr val="0B3D5C">
              <a:alpha val="8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092440" y="5102352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509760" y="5102352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de usuario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63093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Finanzas-Clinic · UPEU · Escuela Profesional de Ingeniería de Sistemas ·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Finanzas-Clinic: Plan de Gestión del Proyecto (PMBOK / Agile)</dc:title>
  <dc:subject>PptxGenJS Presentation</dc:subject>
  <dc:creator>Condori Pachauri Omar, Flores Llanque Mery Elizabeth, Huahuaccapa Ccama Jaqueline</dc:creator>
  <cp:lastModifiedBy>Condori Pachauri Omar, Flores Llanque Mery Elizabeth, Huahuaccapa Ccama Jaqueline</cp:lastModifiedBy>
  <cp:revision>1</cp:revision>
  <dcterms:created xsi:type="dcterms:W3CDTF">2026-07-07T04:45:06Z</dcterms:created>
  <dcterms:modified xsi:type="dcterms:W3CDTF">2026-07-07T04:45:06Z</dcterms:modified>
</cp:coreProperties>
</file>