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976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df_images/page00_img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57200"/>
            <a:ext cx="1417320" cy="3410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CE02 · INGENIERÍA DE SOFTWARE  ·  ENTREGABLE 1  ·  2026-I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FINANZAS-MED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Diseño del Sistema — ERP Clínico y Financiero multi-sucursal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074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 (201810211)  ·  Flores Llanque Mery Elizabeth (202211953)  ·  Huahuaccapa Ccama Jaqueline (202210712)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· Facultad de Ingeniería y Arquitectura · Escuela Profesional de Ingeniería de Sistemas · Juliaca, Perú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gestión clínica fragmentada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pasando hoy?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clínicas de escala intermedia operan con datos de pacientes desconectados de la facturación. Esto provoca errores de cálculo, demoras en cobros a aseguradoras y falta de control interno.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el cálculo de copagos y coaseguros de pacientes asegurados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13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 la liquidación de cuentas por cobrar con aseguradoras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control en los arqueos diarios de caja chica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8188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del stock de medicamentos (Kardex)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321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fraude por falta de segregación de funciones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240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Clínico-Financiero unificado que integra admisión de pacientes, facturación de convenios, control de inventario farmacéutico y conciliación de cajas — con integridad transaccional y seguridad de la información.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 · Tailwind CSS (SPA responsiva)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4279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279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4.0.1 sobre Java 21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47640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47640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(transaccional, ACID)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52486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5248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(notificaciones asíncronas)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 · Introducción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objetivos específicos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ERP Clínico-Financiero multi-sucursal que integre admisión, facturación de convenios, inventario farmacéutico y conciliación de cajas, garantizando integridad transaccional y seguridad.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exprés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 facturación en ventanilla para pacientes asegurados de 15 min a menos de 2 min, automatizando el motor de coaseguros y copagos.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9856" y="26974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48456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64845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48456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 al 100%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48456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trigger transaccional en la base de datos sincroniza en tiempo real los movimientos con los saldos de caja chica y general.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6974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9672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Kardex permanente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19672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del stock farmacéutico con registro histórico de entradas y salidas por lote, bajo metodología FIFO.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62288" y="26974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90888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39088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90888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roles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90888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dinámicos y permisos temporales, con bitácora de auditoría inalterable (SystemAuditLog) para acciones críticas.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 · Objetivos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ESPECIFICACIÓN DE REQUERIMIENTOS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funcionales por módulo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28216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28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6276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Expedientes Clínicos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627632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 de personas, expediente clínico del paciente (NHC, grupo sanguíneo, alergias) y agrupación en grupos familiares para pólizas corporativas.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15768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157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61518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Chica y Tesorería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0640" y="261518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caja con saldo inicial, registro de ingresos/egresos por método de pago, arqueo y cierre con detección de descuadres, y consolidación automática en Caja General.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033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6027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Ventas Asistenciales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640" y="360273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liquidación de coaseguro/copago, comprobante mixto (caja + cuenta corriente de convenio), derivación médica y facturación electrónica en tiempo real (SUNAT/NubeFact).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690872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6908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45902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Logística, Compras e Inventarios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20640" y="459028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 con aprobación de supervisor, ingreso a almacén con IGV/detracciones, cronograma de pagos a crédito y Kardex permanente por lotes.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0468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678424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6784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55778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Operativo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20640" y="557784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dinámico según perfil y sucursal, permisos temporales con caducidad automática y bitácora de auditoría (AuditLog) de solo lectura.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RF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ESPECIFICACIÓN DE REQUERIMIENTOS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sistema y reglas de negocio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48840" y="201168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firmado con RSA-2048; contraseñas cifradas con BCrypt (factor ≥12).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79192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48840" y="27249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asíncronas vía Kafka; respuesta de venta ≤ 200ms.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92424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381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financiera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48840" y="343814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monetarios en DECIMAL(15,5) — sin errores de redondeo.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05656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UI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48840" y="415137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Angular 17+ con lazy loading; carga inicial &lt; 1.5s.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818888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18888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46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48840" y="4864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15 min tras 5 intentos fallidos; máx. 3 sesiones concurrentes.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5669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532120"/>
            <a:ext cx="54864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778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48840" y="55778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automático si NubeFact no responde (estado PENDIENTE_SUNAT).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clave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196596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22037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209397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cierra caja chica con transacciones sin validar o sin monto físico contado.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2830068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27203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bloquean nuevas coberturas si el consumo del paciente supera el límite del convenio.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3456432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33467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 de funciones: un Cajero no puede ser también Aprobador/Auditor en la misma sucursal.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4082796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39730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Dispensación de fármacos con vencimiento bajo regla FIFO (lote más próximo a expirar).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4709160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0" y="45994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registra una compra a crédito sin cronograma de cuotas definido.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20840" y="533552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52257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auditoría (SystemAuditLog) es inmutable, ni el superadministrador puede alterarlo.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RNF / RN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 NAVEGABLE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 de acceso seguro (Login)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583680" cy="3220770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1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309360" cy="2946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técnica de comportamiento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78040" y="22402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2185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reactivas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35240" y="25328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Forms valida en vivo; el botón "Ingresar" permanece deshabilitado si el formato es incorrecto.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78040" y="34747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35240" y="37673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 al backend envía credenciales; si coinciden con el hash BCrypt, se retorna un token JWT firmado con RSA.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47091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46542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35240" y="5001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de acceso (exitoso o fallido) queda registrado en la tabla IntrusionAttempt.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 NAVEGABLE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control financiero (Dashboard)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412480" cy="3826928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2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8138160" cy="355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73736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28116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dinámico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81160" y="21762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lateral consulta las tablas menu y modulo según el rol y la sucursal activa del usuario.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098280" y="3310128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281160" y="34198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tiempo real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ventas, egresos e inventario cargan datos mediante observables Angular sobre la API REST.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098280" y="4882896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81160" y="4992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JWT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81160" y="53218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superior de tiempo restante se sincroniza con la expiración del token JWT.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 NAVEGABLE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navegación del usuario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2870" y="1417320"/>
            <a:ext cx="4577132" cy="4937760"/>
          </a:xfrm>
          <a:prstGeom prst="roundRect">
            <a:avLst>
              <a:gd name="adj" fmla="val 11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750" y="1554480"/>
            <a:ext cx="4211372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stakeholders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148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de alta fidelidad en Angular fue validado con metodologías ágiles de diseño centrado en el usuario (UCD).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10896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1812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 / 100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818120" y="4160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promedio del cuestionario System Usability Scale (SUS)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18120" y="48463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usabilidad: "Excelente"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Muestra: 5 cajeros + 2 administradores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Prototipo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DISEÑO ARQUITECTÓNICO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desacopla físicamente la presentación (Angular SPA), el gateway de seguridad (Spring Security + JWT), el núcleo de servicios de negocio (Spring Boot), la persistencia (PostgreSQL) y la mensajería de eventos (Apache Kafka) hacia el microservicio de notificaciones.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0881360" cy="3040593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/home/claude/pdf_images/page14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10607040" cy="27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509473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capas: Presentación → Control y Seguridad → Servicios de Negocio → Integración y Eventos → Notificaciones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Arquitectura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DISEÑO ARQUITECTÓNICO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despliegue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3239295" cy="4892040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4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2964975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web al servidor de notificaciones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94960" y="21031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20299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sirve el build de Angular 17 y hace proxy HTTP/REST hacia el backend.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31546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308152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(JVM 21) atiende la lógica de negocio y persiste vía JDBC en PostgreSQL 16.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42062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1330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backend publica eventos en Apache Kafka (topic sistema.notificaciones).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94960" y="5257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0" y="51846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consumidor independiente (Spring Boot) procesa esos eventos y envía notificaciones por SMTP/WhatsApp (Twilio), sin bloquear la venta en caja.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Arquitectura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DISEÑO ARQUITECTÓNICO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Diseño arquitectónico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arquitectónicas (ADR)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12B4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para notificaciones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desacopla el envío de comprobantes (email/WhatsApp) del flujo de venta. El cajero no espera; si el SMTP falla, el consumidor reintenta sin afectar la venta.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306324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latencia percibida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12B4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 lógica en el motor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y FKs estrictas garantizan consistencia ACID del dinero en caja, con bloqueos de fila (SELECT... FOR UPDATE) ante condiciones de carrera.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5166360"/>
            <a:ext cx="306324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datos absoluta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12B4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asimétrico RSA-2048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privada firma en el backend y la pública verifica en frontend/microservicios, permitiendo validar sesiones sin consultar la BD de usuarios.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0" y="5166360"/>
            <a:ext cx="306324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expone accesos al validar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ADR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DISEÑO DETALLADO (UML)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casos de uso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162342" cy="4846320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6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888022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6360" y="1691640"/>
            <a:ext cx="6446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20116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63640" y="1892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22585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caja chica, registro de venta mixta, arqueo y cierre de caja.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66360" y="3200400"/>
            <a:ext cx="6446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94960" y="35204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6364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37673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anulaciones, gestiona permisos temporales y audita trazabilidad.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166360" y="4709160"/>
            <a:ext cx="644652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5029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6364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5276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órdenes de compra y registra el ingreso de mercadería al Kardex.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UML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DISEÑO DETALLADO (UML)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Secuencia: venta mixta con convenio asegurado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" y="1463040"/>
            <a:ext cx="9966960" cy="5301409"/>
          </a:xfrm>
          <a:prstGeom prst="roundRect">
            <a:avLst>
              <a:gd name="adj" fmla="val 1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8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600200"/>
            <a:ext cx="9692640" cy="5027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8156" y="6901609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cobra → Spring Security valida el JWT → VentaService calcula cobertura/copago → PostgreSQL registra venta, actualiza cuenta corriente y caja chica en una sola transacción → Kafka notifica el comprobante de forma asíncrona.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UML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DISEÑO DETALLADO (UML)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la Caja Chica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7223760" cy="4197282"/>
          </a:xfrm>
          <a:prstGeom prst="roundRect">
            <a:avLst>
              <a:gd name="adj" fmla="val 13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/page19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949440" cy="39229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27632"/>
            <a:ext cx="146304" cy="146304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18013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inicial; la caja está inactiva hasta que el cajero ingresa un saldo inicial.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2523744"/>
            <a:ext cx="146304" cy="146304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2404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8388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registran ingresos y egresos continuamente, actualizando el saldo contable.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3419856"/>
            <a:ext cx="146304" cy="146304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3300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83880" y="35935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el saldo físico contado contra el saldo contable calculado.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09560" y="4315968"/>
            <a:ext cx="146304" cy="146304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4197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83880" y="44897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diferencia, se exige una justificación antes de continuar el cierre.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09560" y="5212080"/>
            <a:ext cx="146304" cy="146304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9" name="Text 16"/>
          <p:cNvSpPr/>
          <p:nvPr/>
        </p:nvSpPr>
        <p:spPr>
          <a:xfrm>
            <a:off x="8183880" y="5093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 (final)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83880" y="53858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validar, los fondos netos se transfieren de forma segura a Caja General.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ERP Clínico y Financiero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UML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ERP trazable, seguro y en tiempo real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conecta la atención al paciente con la facturación, la tesorería y el inventario en una sola plataforma — con trazabilidad transaccional al 100%, cierre automático de descuadres y una arquitectura desacoplada por eventos.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min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en ventanilla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931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188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 automático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Kardex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3931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inalterable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Entregable 1: Requerimientos y Diseño del Sistema · UPeU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FINANZAS-MED: Requerimientos y Diseño del Sistema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2026-07-07T03:09:18Z</dcterms:created>
  <dcterms:modified xsi:type="dcterms:W3CDTF">2026-07-07T03:09:18Z</dcterms:modified>
</cp:coreProperties>
</file>